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80" r:id="rId4"/>
    <p:sldId id="281" r:id="rId5"/>
    <p:sldId id="282" r:id="rId6"/>
    <p:sldId id="283" r:id="rId7"/>
    <p:sldId id="284" r:id="rId8"/>
    <p:sldId id="257" r:id="rId9"/>
    <p:sldId id="259" r:id="rId10"/>
    <p:sldId id="260" r:id="rId11"/>
    <p:sldId id="261" r:id="rId12"/>
    <p:sldId id="266" r:id="rId13"/>
    <p:sldId id="277" r:id="rId14"/>
    <p:sldId id="276" r:id="rId15"/>
    <p:sldId id="275" r:id="rId16"/>
    <p:sldId id="274" r:id="rId17"/>
    <p:sldId id="273" r:id="rId18"/>
    <p:sldId id="272" r:id="rId19"/>
    <p:sldId id="271" r:id="rId20"/>
    <p:sldId id="270" r:id="rId21"/>
    <p:sldId id="269" r:id="rId22"/>
    <p:sldId id="267" r:id="rId23"/>
    <p:sldId id="278" r:id="rId24"/>
    <p:sldId id="268" r:id="rId25"/>
    <p:sldId id="265" r:id="rId26"/>
    <p:sldId id="264" r:id="rId27"/>
    <p:sldId id="263" r:id="rId28"/>
    <p:sldId id="26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55143-647B-57D9-89FC-6ED52F1E04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623ABD-11B8-6BF8-E06B-AC9B5DAABB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4D57F0E-B837-4FF4-10DF-CF90B5532C8D}"/>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5" name="Footer Placeholder 4">
            <a:extLst>
              <a:ext uri="{FF2B5EF4-FFF2-40B4-BE49-F238E27FC236}">
                <a16:creationId xmlns:a16="http://schemas.microsoft.com/office/drawing/2014/main" id="{FCF9A8A8-9424-35AE-286B-5F725D3297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D67DC0-9F16-4A01-15F2-3FFCF7CB6F15}"/>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3941013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7C27-A396-4835-D580-4B3E5902A7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5BAE48-3C04-77F7-1207-4EB0C5B7A9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A9728B-39AC-43E2-27E8-7D2E88747FCE}"/>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5" name="Footer Placeholder 4">
            <a:extLst>
              <a:ext uri="{FF2B5EF4-FFF2-40B4-BE49-F238E27FC236}">
                <a16:creationId xmlns:a16="http://schemas.microsoft.com/office/drawing/2014/main" id="{80734179-20D9-B2FF-61BF-3FFD937831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CD7B2A-8B71-74CC-19DA-169154E7B3DC}"/>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530432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5B2A9-3852-FAC0-2E93-1946761CAF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779B88-58C3-2746-B030-A2BC542A98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6EF304-D934-ADCC-ED26-CBB4DE46DDF5}"/>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5" name="Footer Placeholder 4">
            <a:extLst>
              <a:ext uri="{FF2B5EF4-FFF2-40B4-BE49-F238E27FC236}">
                <a16:creationId xmlns:a16="http://schemas.microsoft.com/office/drawing/2014/main" id="{DEA89FDB-0DCA-D4A3-DF73-57909C104D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99902B-7C28-8995-FBAE-F4951891FF52}"/>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1785310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05740-891F-C66C-7B45-57FF58A285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017D6B-49A2-6667-29F1-8F70A754F2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C6F06A-A9DC-6409-A25E-DF2F15AEB6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B7D4D9-6820-2A7F-CB68-2F34DFDB7BE9}"/>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6" name="Footer Placeholder 5">
            <a:extLst>
              <a:ext uri="{FF2B5EF4-FFF2-40B4-BE49-F238E27FC236}">
                <a16:creationId xmlns:a16="http://schemas.microsoft.com/office/drawing/2014/main" id="{9284E186-2371-EF2C-F1D0-6198CEA07C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1D4FCD-DDB9-D25F-9220-08C37AC13C57}"/>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335290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581E-2AEE-5DEA-02DD-6D28E610522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666E7D-892C-3D4E-9ECF-8484FCFB26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ADD85F-F678-39AB-5E69-477B3A6683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5943EF-8B15-D75F-E2F2-F11036856F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37A4DE-DE6F-2C2B-83C3-452A52AFA6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10D267-C8F5-B5D7-3CB3-7F9335110A9F}"/>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8" name="Footer Placeholder 7">
            <a:extLst>
              <a:ext uri="{FF2B5EF4-FFF2-40B4-BE49-F238E27FC236}">
                <a16:creationId xmlns:a16="http://schemas.microsoft.com/office/drawing/2014/main" id="{85FED724-8667-90CF-51DB-BBAF1909B43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DBA091B-6840-B111-7FE8-0CE999B4AA86}"/>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33254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7C7BB-076F-9B1C-A75F-0349911379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2E0716-16F4-EA77-2462-A7C7F8B50083}"/>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4" name="Footer Placeholder 3">
            <a:extLst>
              <a:ext uri="{FF2B5EF4-FFF2-40B4-BE49-F238E27FC236}">
                <a16:creationId xmlns:a16="http://schemas.microsoft.com/office/drawing/2014/main" id="{C6DC7953-88B0-A634-06A6-F01F6EE2AA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E81A3B-503B-4214-3108-137EEE051524}"/>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1355409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917824-A091-7716-56EF-AF7AF9620849}"/>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3" name="Footer Placeholder 2">
            <a:extLst>
              <a:ext uri="{FF2B5EF4-FFF2-40B4-BE49-F238E27FC236}">
                <a16:creationId xmlns:a16="http://schemas.microsoft.com/office/drawing/2014/main" id="{6E700124-DBDF-F851-D225-65CD499219C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FCD076-AE2F-1703-6D2C-D5FB7B86C254}"/>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2843970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F3EE1-5E7D-3257-25B1-7EDA038097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0BDE37F-491B-FE87-33A6-8B3F6A0185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13CDE3-C5DC-FF64-B298-3CE2C73127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CD5AEE-2C07-E4C6-C6B9-1094A6E8A93C}"/>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6" name="Footer Placeholder 5">
            <a:extLst>
              <a:ext uri="{FF2B5EF4-FFF2-40B4-BE49-F238E27FC236}">
                <a16:creationId xmlns:a16="http://schemas.microsoft.com/office/drawing/2014/main" id="{29F9B536-0A74-D011-0A00-5CB256B9ED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D20418-C1DD-E58C-86D1-425586CFB4AF}"/>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422262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E95D5-0565-893E-0BAB-73C3BCC2FD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D678736-A201-376B-DA2A-D96F06C8ED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8685DC-C655-B007-DE49-FBC46CA9F6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FA3283-9FF7-7C00-A63C-52C7FC020276}"/>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6" name="Footer Placeholder 5">
            <a:extLst>
              <a:ext uri="{FF2B5EF4-FFF2-40B4-BE49-F238E27FC236}">
                <a16:creationId xmlns:a16="http://schemas.microsoft.com/office/drawing/2014/main" id="{3EEE7183-E81E-50F0-003A-BDAB26F64D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E6ADE1-540A-E172-66E8-4249F33C12C2}"/>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1070042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669E-BB83-349B-3C22-E5F0CF67F98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0BC8B8-629C-CE52-5EC4-63324F17FA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9D2892-24FC-6C85-27AC-989FF436088B}"/>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5" name="Footer Placeholder 4">
            <a:extLst>
              <a:ext uri="{FF2B5EF4-FFF2-40B4-BE49-F238E27FC236}">
                <a16:creationId xmlns:a16="http://schemas.microsoft.com/office/drawing/2014/main" id="{09EAA151-D1C2-5C70-8F21-B9911721F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BB144-59F9-2D3C-BC1A-26B1A9B05B94}"/>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3036648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439C32-4C30-25C0-79E1-59D1EE06BA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57CCC0-7F2B-31CA-3701-1CC0105795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C074B4-90FA-435A-922F-ABEE8D97A2FB}"/>
              </a:ext>
            </a:extLst>
          </p:cNvPr>
          <p:cNvSpPr>
            <a:spLocks noGrp="1"/>
          </p:cNvSpPr>
          <p:nvPr>
            <p:ph type="dt" sz="half" idx="10"/>
          </p:nvPr>
        </p:nvSpPr>
        <p:spPr/>
        <p:txBody>
          <a:bodyPr/>
          <a:lstStyle/>
          <a:p>
            <a:fld id="{EE596E7C-BCA1-41EC-987D-6585510C9CD8}" type="datetimeFigureOut">
              <a:rPr lang="en-IN" smtClean="0"/>
              <a:t>24-05-2026</a:t>
            </a:fld>
            <a:endParaRPr lang="en-IN"/>
          </a:p>
        </p:txBody>
      </p:sp>
      <p:sp>
        <p:nvSpPr>
          <p:cNvPr id="5" name="Footer Placeholder 4">
            <a:extLst>
              <a:ext uri="{FF2B5EF4-FFF2-40B4-BE49-F238E27FC236}">
                <a16:creationId xmlns:a16="http://schemas.microsoft.com/office/drawing/2014/main" id="{56CF81A9-03EE-D90F-F631-6A91CD17D0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F7A40D-B345-5A18-5CB1-C9243FB33540}"/>
              </a:ext>
            </a:extLst>
          </p:cNvPr>
          <p:cNvSpPr>
            <a:spLocks noGrp="1"/>
          </p:cNvSpPr>
          <p:nvPr>
            <p:ph type="sldNum" sz="quarter" idx="12"/>
          </p:nvPr>
        </p:nvSpPr>
        <p:spPr/>
        <p:txBody>
          <a:bodyPr/>
          <a:lstStyle/>
          <a:p>
            <a:fld id="{57C39371-940E-43F0-9256-7E11BF77B2DA}" type="slidenum">
              <a:rPr lang="en-IN" smtClean="0"/>
              <a:t>‹#›</a:t>
            </a:fld>
            <a:endParaRPr lang="en-IN"/>
          </a:p>
        </p:txBody>
      </p:sp>
    </p:spTree>
    <p:extLst>
      <p:ext uri="{BB962C8B-B14F-4D97-AF65-F5344CB8AC3E}">
        <p14:creationId xmlns:p14="http://schemas.microsoft.com/office/powerpoint/2010/main" val="189324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74C068-E225-050C-42D9-0A1601C0B8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FB1F52-7C10-41F5-CF46-21D1A6A09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0085B8-BB63-9BA9-6C95-2B9D435B4E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596E7C-BCA1-41EC-987D-6585510C9CD8}" type="datetimeFigureOut">
              <a:rPr lang="en-IN" smtClean="0"/>
              <a:t>24-05-2026</a:t>
            </a:fld>
            <a:endParaRPr lang="en-IN"/>
          </a:p>
        </p:txBody>
      </p:sp>
      <p:sp>
        <p:nvSpPr>
          <p:cNvPr id="5" name="Footer Placeholder 4">
            <a:extLst>
              <a:ext uri="{FF2B5EF4-FFF2-40B4-BE49-F238E27FC236}">
                <a16:creationId xmlns:a16="http://schemas.microsoft.com/office/drawing/2014/main" id="{04B8ECEF-BE30-54B8-0222-37EA8B49B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659EA2F-217C-60BC-C1D9-D15405ACA2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C39371-940E-43F0-9256-7E11BF77B2DA}" type="slidenum">
              <a:rPr lang="en-IN" smtClean="0"/>
              <a:t>‹#›</a:t>
            </a:fld>
            <a:endParaRPr lang="en-IN"/>
          </a:p>
        </p:txBody>
      </p:sp>
    </p:spTree>
    <p:extLst>
      <p:ext uri="{BB962C8B-B14F-4D97-AF65-F5344CB8AC3E}">
        <p14:creationId xmlns:p14="http://schemas.microsoft.com/office/powerpoint/2010/main" val="574005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4D2A-375D-B01B-5A82-E29B97DCC1AE}"/>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EC53A0F0-72E5-CE00-EB46-6704801DEDF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78287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66B9-51AE-897F-153E-E179AA1545C9}"/>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What is SQL?</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6D43BF-22AC-3F07-AF6B-1FC19FA37B65}"/>
              </a:ext>
            </a:extLst>
          </p:cNvPr>
          <p:cNvSpPr>
            <a:spLocks noGrp="1"/>
          </p:cNvSpPr>
          <p:nvPr>
            <p:ph idx="1"/>
          </p:nvPr>
        </p:nvSpPr>
        <p:spPr/>
        <p:txBody>
          <a:bodyPr/>
          <a:lstStyle/>
          <a:p>
            <a:pPr algn="just"/>
            <a:r>
              <a:rPr lang="en-IN" b="1" dirty="0">
                <a:latin typeface="Times New Roman" panose="02020603050405020304" pitchFamily="18" charset="0"/>
                <a:cs typeface="Times New Roman" panose="02020603050405020304" pitchFamily="18" charset="0"/>
              </a:rPr>
              <a:t>Structured Query Language</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is a domain-specific language used to manage data, especially in a relational database management system (RDBMS). It is particularly useful in handling structured data, i.e., data incorporating relations among entities and variables.</a:t>
            </a:r>
          </a:p>
        </p:txBody>
      </p:sp>
    </p:spTree>
    <p:extLst>
      <p:ext uri="{BB962C8B-B14F-4D97-AF65-F5344CB8AC3E}">
        <p14:creationId xmlns:p14="http://schemas.microsoft.com/office/powerpoint/2010/main" val="3503988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AC077-A97C-EC13-809B-5305DA8A3ABD}"/>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Why SQL?</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BD4657-5BB1-E861-A140-2BBDACEDBD7C}"/>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 It is essential for storing, updating, and retrieving large datasets efficiently, acting as the backbone for backend web development, business intelligence, and data analytics</a:t>
            </a:r>
          </a:p>
          <a:p>
            <a:r>
              <a:rPr lang="en-US" dirty="0">
                <a:latin typeface="Times New Roman" panose="02020603050405020304" pitchFamily="18" charset="0"/>
                <a:cs typeface="Times New Roman" panose="02020603050405020304" pitchFamily="18" charset="0"/>
              </a:rPr>
              <a:t>Key reasons to use SQL include:</a:t>
            </a:r>
          </a:p>
          <a:p>
            <a:pPr lvl="1" algn="just"/>
            <a:r>
              <a:rPr lang="en-IN" dirty="0">
                <a:latin typeface="Times New Roman" panose="02020603050405020304" pitchFamily="18" charset="0"/>
                <a:cs typeface="Times New Roman" panose="02020603050405020304" pitchFamily="18" charset="0"/>
              </a:rPr>
              <a:t>Handles huge data easily</a:t>
            </a:r>
          </a:p>
          <a:p>
            <a:pPr lvl="1" algn="just"/>
            <a:r>
              <a:rPr lang="en-IN" dirty="0">
                <a:latin typeface="Times New Roman" panose="02020603050405020304" pitchFamily="18" charset="0"/>
                <a:cs typeface="Times New Roman" panose="02020603050405020304" pitchFamily="18" charset="0"/>
              </a:rPr>
              <a:t>Easy to read </a:t>
            </a:r>
          </a:p>
          <a:p>
            <a:pPr lvl="1" algn="just"/>
            <a:r>
              <a:rPr lang="en-IN" dirty="0">
                <a:latin typeface="Times New Roman" panose="02020603050405020304" pitchFamily="18" charset="0"/>
                <a:cs typeface="Times New Roman" panose="02020603050405020304" pitchFamily="18" charset="0"/>
              </a:rPr>
              <a:t>Fast searching</a:t>
            </a:r>
          </a:p>
          <a:p>
            <a:pPr lvl="1" algn="just"/>
            <a:r>
              <a:rPr lang="en-IN" dirty="0">
                <a:latin typeface="Times New Roman" panose="02020603050405020304" pitchFamily="18" charset="0"/>
                <a:cs typeface="Times New Roman" panose="02020603050405020304" pitchFamily="18" charset="0"/>
              </a:rPr>
              <a:t>Safe and reliable</a:t>
            </a:r>
          </a:p>
          <a:p>
            <a:pPr lvl="1" algn="just"/>
            <a:r>
              <a:rPr lang="en-IN" dirty="0">
                <a:latin typeface="Times New Roman" panose="02020603050405020304" pitchFamily="18" charset="0"/>
                <a:cs typeface="Times New Roman" panose="02020603050405020304" pitchFamily="18" charset="0"/>
              </a:rPr>
              <a:t>Works with other tools</a:t>
            </a:r>
          </a:p>
        </p:txBody>
      </p:sp>
    </p:spTree>
    <p:extLst>
      <p:ext uri="{BB962C8B-B14F-4D97-AF65-F5344CB8AC3E}">
        <p14:creationId xmlns:p14="http://schemas.microsoft.com/office/powerpoint/2010/main" val="890952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41EE0-5774-9B87-41A5-3924FE638F5B}"/>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What is MySQL</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E473E9-B982-BA72-E60F-2331FB950C9C}"/>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MySQL is a widely used, open-source Relational Database Management System (RDBMS). It organizes and stores data in structured, table-like formats and uses Structured Query Language (SQL) to manage, query, and manipulate that data. It is the backbone for many dynamic websites and applications.</a:t>
            </a:r>
          </a:p>
          <a:p>
            <a:pPr algn="just"/>
            <a:r>
              <a:rPr lang="en-IN" dirty="0">
                <a:latin typeface="Times New Roman" panose="02020603050405020304" pitchFamily="18" charset="0"/>
                <a:cs typeface="Times New Roman" panose="02020603050405020304" pitchFamily="18" charset="0"/>
              </a:rPr>
              <a:t>Key Features &amp; Benefits</a:t>
            </a:r>
          </a:p>
          <a:p>
            <a:pPr lvl="1" algn="just"/>
            <a:r>
              <a:rPr lang="en-IN" dirty="0">
                <a:latin typeface="Times New Roman" panose="02020603050405020304" pitchFamily="18" charset="0"/>
                <a:cs typeface="Times New Roman" panose="02020603050405020304" pitchFamily="18" charset="0"/>
              </a:rPr>
              <a:t>Open-Source</a:t>
            </a:r>
          </a:p>
          <a:p>
            <a:pPr lvl="1" algn="just"/>
            <a:r>
              <a:rPr lang="en-IN" dirty="0">
                <a:latin typeface="Times New Roman" panose="02020603050405020304" pitchFamily="18" charset="0"/>
                <a:cs typeface="Times New Roman" panose="02020603050405020304" pitchFamily="18" charset="0"/>
              </a:rPr>
              <a:t>Cross-Platform</a:t>
            </a:r>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469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8498E-0530-C03C-DC64-394C6F565700}"/>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Why MySQL is important</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8997E7-894F-9B9B-9AFB-F7F86E54A092}"/>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It is used by web developers in websites for backend data storage and data processing solutions.</a:t>
            </a:r>
          </a:p>
          <a:p>
            <a:r>
              <a:rPr lang="en-US" dirty="0">
                <a:latin typeface="Times New Roman" panose="02020603050405020304" pitchFamily="18" charset="0"/>
                <a:cs typeface="Times New Roman" panose="02020603050405020304" pitchFamily="18" charset="0"/>
              </a:rPr>
              <a:t>It is important to know about SQL for 2 reasons:</a:t>
            </a:r>
          </a:p>
          <a:p>
            <a:pPr lvl="1"/>
            <a:r>
              <a:rPr lang="en-US" dirty="0">
                <a:latin typeface="Times New Roman" panose="02020603050405020304" pitchFamily="18" charset="0"/>
                <a:cs typeface="Times New Roman" panose="02020603050405020304" pitchFamily="18" charset="0"/>
              </a:rPr>
              <a:t>To get information from database.</a:t>
            </a:r>
          </a:p>
          <a:p>
            <a:pPr lvl="1"/>
            <a:r>
              <a:rPr lang="en-US" dirty="0">
                <a:latin typeface="Times New Roman" panose="02020603050405020304" pitchFamily="18" charset="0"/>
                <a:cs typeface="Times New Roman" panose="02020603050405020304" pitchFamily="18" charset="0"/>
              </a:rPr>
              <a:t>To use it to create tables and organize data in database.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269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52CDE-1DA6-8B37-9F16-974097AF34C8}"/>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Project Objective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394F83-6D3C-A8A2-98D7-4AB357D0F550}"/>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	We need to focus on managing hotel operations efficiently by identifying regular customers to provide special offers and services, analyzing room booking details to improve room allocation and availability, and preparing payment and booking analysis reports for better decision-making. This helps the hotel improve its operational efficiency, maintain customer records systematically, enhance customer satisfaction, and provide better hospitality services. The system also ensures accurate management of room bookings, customer details, payments, and hotel staff operations, making the hotel more organized, customer-centric, and efficient in daily operations.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7971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C45A6-3A0B-ED48-5272-F3BA4048DC71}"/>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ENTITY RELATIONSHIP (ER) DIAGRAM</a:t>
            </a:r>
          </a:p>
        </p:txBody>
      </p:sp>
      <p:pic>
        <p:nvPicPr>
          <p:cNvPr id="5" name="Content Placeholder 4">
            <a:extLst>
              <a:ext uri="{FF2B5EF4-FFF2-40B4-BE49-F238E27FC236}">
                <a16:creationId xmlns:a16="http://schemas.microsoft.com/office/drawing/2014/main" id="{E49ECF84-A47F-7648-080A-78AEE81D42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4033" y="1690688"/>
            <a:ext cx="5242444" cy="4351338"/>
          </a:xfrm>
          <a:prstGeom prst="rect">
            <a:avLst/>
          </a:prstGeom>
        </p:spPr>
      </p:pic>
    </p:spTree>
    <p:extLst>
      <p:ext uri="{BB962C8B-B14F-4D97-AF65-F5344CB8AC3E}">
        <p14:creationId xmlns:p14="http://schemas.microsoft.com/office/powerpoint/2010/main" val="3795813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1B0CB-DDE7-3FCB-D2F8-05CB6EEF9A8A}"/>
              </a:ext>
            </a:extLst>
          </p:cNvPr>
          <p:cNvSpPr>
            <a:spLocks noGrp="1"/>
          </p:cNvSpPr>
          <p:nvPr>
            <p:ph type="title"/>
          </p:nvPr>
        </p:nvSpPr>
        <p:spPr/>
        <p:txBody>
          <a:bodyPr>
            <a:normAutofit/>
          </a:bodyPr>
          <a:lstStyle/>
          <a:p>
            <a:r>
              <a:rPr lang="en-US" sz="2400" dirty="0"/>
              <a:t>1. Write a query to create a Rooms table using suitable data types for </a:t>
            </a:r>
            <a:r>
              <a:rPr lang="en-US" sz="2400" dirty="0" err="1"/>
              <a:t>room_id</a:t>
            </a:r>
            <a:r>
              <a:rPr lang="en-US" sz="2400" dirty="0"/>
              <a:t>, </a:t>
            </a:r>
            <a:r>
              <a:rPr lang="en-US" sz="2400" dirty="0" err="1"/>
              <a:t>room_type</a:t>
            </a:r>
            <a:r>
              <a:rPr lang="en-US" sz="2400" dirty="0"/>
              <a:t>, </a:t>
            </a:r>
            <a:r>
              <a:rPr lang="en-US" sz="2400" dirty="0" err="1"/>
              <a:t>price_per_day</a:t>
            </a:r>
            <a:r>
              <a:rPr lang="en-US" sz="2400" dirty="0"/>
              <a:t>, and </a:t>
            </a:r>
            <a:r>
              <a:rPr lang="en-US" sz="2400" dirty="0" err="1"/>
              <a:t>room_status</a:t>
            </a:r>
            <a:r>
              <a:rPr lang="en-US" sz="2400" dirty="0"/>
              <a:t>. Implement primary key and check constraint so price must be greater than 0.</a:t>
            </a:r>
            <a:endParaRPr lang="en-IN" sz="2400" dirty="0"/>
          </a:p>
        </p:txBody>
      </p:sp>
      <p:sp>
        <p:nvSpPr>
          <p:cNvPr id="3" name="Content Placeholder 2">
            <a:extLst>
              <a:ext uri="{FF2B5EF4-FFF2-40B4-BE49-F238E27FC236}">
                <a16:creationId xmlns:a16="http://schemas.microsoft.com/office/drawing/2014/main" id="{28DE0D13-F7B1-3D58-688C-CC484172933A}"/>
              </a:ext>
            </a:extLst>
          </p:cNvPr>
          <p:cNvSpPr>
            <a:spLocks noGrp="1"/>
          </p:cNvSpPr>
          <p:nvPr>
            <p:ph idx="1"/>
          </p:nvPr>
        </p:nvSpPr>
        <p:spPr/>
        <p:txBody>
          <a:bodyPr/>
          <a:lstStyle/>
          <a:p>
            <a:pPr marL="0" indent="0">
              <a:buNone/>
            </a:pPr>
            <a:r>
              <a:rPr lang="en-IN" b="1" dirty="0"/>
              <a:t>Query:</a:t>
            </a:r>
          </a:p>
          <a:p>
            <a:pPr marL="457200" lvl="1" indent="0">
              <a:buNone/>
            </a:pPr>
            <a:endParaRPr lang="en-IN" dirty="0"/>
          </a:p>
          <a:p>
            <a:pPr marL="457200" lvl="1" indent="0">
              <a:buNone/>
            </a:pPr>
            <a:r>
              <a:rPr lang="en-US" sz="2000" dirty="0"/>
              <a:t>CREATE TABLE Rooms (</a:t>
            </a:r>
          </a:p>
          <a:p>
            <a:pPr marL="457200" lvl="1" indent="0">
              <a:buNone/>
            </a:pPr>
            <a:r>
              <a:rPr lang="en-US" sz="2000" dirty="0"/>
              <a:t>    </a:t>
            </a:r>
            <a:r>
              <a:rPr lang="en-US" sz="2000" dirty="0" err="1"/>
              <a:t>room_id</a:t>
            </a:r>
            <a:r>
              <a:rPr lang="en-US" sz="2000" dirty="0"/>
              <a:t> INT PRIMARY KEY AUTO_INCREMENT,</a:t>
            </a:r>
          </a:p>
          <a:p>
            <a:pPr marL="457200" lvl="1" indent="0">
              <a:buNone/>
            </a:pPr>
            <a:r>
              <a:rPr lang="en-US" sz="2000" dirty="0"/>
              <a:t>    </a:t>
            </a:r>
            <a:r>
              <a:rPr lang="en-US" sz="2000" dirty="0" err="1"/>
              <a:t>room_type</a:t>
            </a:r>
            <a:r>
              <a:rPr lang="en-US" sz="2000" dirty="0"/>
              <a:t> VARCHAR(30) NOT NULL,</a:t>
            </a:r>
          </a:p>
          <a:p>
            <a:pPr marL="457200" lvl="1" indent="0">
              <a:buNone/>
            </a:pPr>
            <a:r>
              <a:rPr lang="en-US" sz="2000" dirty="0"/>
              <a:t>    </a:t>
            </a:r>
            <a:r>
              <a:rPr lang="en-US" sz="2000" dirty="0" err="1"/>
              <a:t>price_per_day</a:t>
            </a:r>
            <a:r>
              <a:rPr lang="en-US" sz="2000" dirty="0"/>
              <a:t> DECIMAL(10,2) CHECK(</a:t>
            </a:r>
            <a:r>
              <a:rPr lang="en-US" sz="2000" dirty="0" err="1"/>
              <a:t>price_per_day</a:t>
            </a:r>
            <a:r>
              <a:rPr lang="en-US" sz="2000" dirty="0"/>
              <a:t> &gt; 0),</a:t>
            </a:r>
          </a:p>
          <a:p>
            <a:pPr marL="457200" lvl="1" indent="0">
              <a:buNone/>
            </a:pPr>
            <a:r>
              <a:rPr lang="en-US" sz="2000" dirty="0"/>
              <a:t>    </a:t>
            </a:r>
            <a:r>
              <a:rPr lang="en-US" sz="2000" dirty="0" err="1"/>
              <a:t>room_status</a:t>
            </a:r>
            <a:r>
              <a:rPr lang="en-US" sz="2000" dirty="0"/>
              <a:t> VARCHAR(20)</a:t>
            </a:r>
          </a:p>
          <a:p>
            <a:pPr marL="457200" lvl="1" indent="0">
              <a:buNone/>
            </a:pPr>
            <a:r>
              <a:rPr lang="en-US" sz="2000" dirty="0"/>
              <a:t>);</a:t>
            </a:r>
            <a:endParaRPr lang="en-IN" sz="2000" dirty="0"/>
          </a:p>
        </p:txBody>
      </p:sp>
    </p:spTree>
    <p:extLst>
      <p:ext uri="{BB962C8B-B14F-4D97-AF65-F5344CB8AC3E}">
        <p14:creationId xmlns:p14="http://schemas.microsoft.com/office/powerpoint/2010/main" val="1214576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68DC2-AA4B-64A5-FD26-DF8FD118F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B253C-B181-2E24-743C-51B53E4FFA0B}"/>
              </a:ext>
            </a:extLst>
          </p:cNvPr>
          <p:cNvSpPr>
            <a:spLocks noGrp="1"/>
          </p:cNvSpPr>
          <p:nvPr>
            <p:ph type="title"/>
          </p:nvPr>
        </p:nvSpPr>
        <p:spPr/>
        <p:txBody>
          <a:bodyPr>
            <a:normAutofit/>
          </a:bodyPr>
          <a:lstStyle/>
          <a:p>
            <a:r>
              <a:rPr lang="en-US" sz="2400" dirty="0"/>
              <a:t>2. Write a query to display customers who booked rooms between room IDs 1 and 5 using Customers and Bookings tables.</a:t>
            </a:r>
            <a:endParaRPr lang="en-IN" sz="2400" dirty="0"/>
          </a:p>
        </p:txBody>
      </p:sp>
      <p:sp>
        <p:nvSpPr>
          <p:cNvPr id="3" name="Content Placeholder 2">
            <a:extLst>
              <a:ext uri="{FF2B5EF4-FFF2-40B4-BE49-F238E27FC236}">
                <a16:creationId xmlns:a16="http://schemas.microsoft.com/office/drawing/2014/main" id="{10D03B1B-66E3-9B66-AAFA-58C341FF73E9}"/>
              </a:ext>
            </a:extLst>
          </p:cNvPr>
          <p:cNvSpPr>
            <a:spLocks noGrp="1"/>
          </p:cNvSpPr>
          <p:nvPr>
            <p:ph idx="1"/>
          </p:nvPr>
        </p:nvSpPr>
        <p:spPr/>
        <p:txBody>
          <a:bodyPr numCol="2"/>
          <a:lstStyle/>
          <a:p>
            <a:pPr marL="0" indent="0">
              <a:buNone/>
            </a:pPr>
            <a:r>
              <a:rPr lang="en-IN" b="1" dirty="0"/>
              <a:t>Query:</a:t>
            </a:r>
          </a:p>
          <a:p>
            <a:pPr marL="457200" lvl="1" indent="0">
              <a:buNone/>
            </a:pPr>
            <a:endParaRPr lang="en-IN" dirty="0"/>
          </a:p>
          <a:p>
            <a:pPr marL="457200" lvl="1" indent="0">
              <a:buNone/>
            </a:pPr>
            <a:r>
              <a:rPr lang="en-US" dirty="0"/>
              <a:t>SELECT </a:t>
            </a:r>
            <a:r>
              <a:rPr lang="en-US" dirty="0" err="1"/>
              <a:t>c.first_name</a:t>
            </a:r>
            <a:r>
              <a:rPr lang="en-US" dirty="0"/>
              <a:t>,</a:t>
            </a:r>
          </a:p>
          <a:p>
            <a:pPr marL="457200" lvl="1" indent="0">
              <a:buNone/>
            </a:pPr>
            <a:r>
              <a:rPr lang="en-US" dirty="0"/>
              <a:t>       </a:t>
            </a:r>
            <a:r>
              <a:rPr lang="en-US" dirty="0" err="1"/>
              <a:t>c.last_name</a:t>
            </a:r>
            <a:r>
              <a:rPr lang="en-US" dirty="0"/>
              <a:t>,</a:t>
            </a:r>
          </a:p>
          <a:p>
            <a:pPr marL="457200" lvl="1" indent="0">
              <a:buNone/>
            </a:pPr>
            <a:r>
              <a:rPr lang="en-US" dirty="0"/>
              <a:t>       </a:t>
            </a:r>
            <a:r>
              <a:rPr lang="en-US" dirty="0" err="1"/>
              <a:t>b.room_id</a:t>
            </a:r>
            <a:endParaRPr lang="en-US" dirty="0"/>
          </a:p>
          <a:p>
            <a:pPr marL="457200" lvl="1" indent="0">
              <a:buNone/>
            </a:pPr>
            <a:r>
              <a:rPr lang="en-US" dirty="0"/>
              <a:t>FROM Customers c</a:t>
            </a:r>
          </a:p>
          <a:p>
            <a:pPr marL="457200" lvl="1" indent="0">
              <a:buNone/>
            </a:pPr>
            <a:r>
              <a:rPr lang="en-US" dirty="0"/>
              <a:t>INNER JOIN Bookings b</a:t>
            </a:r>
          </a:p>
          <a:p>
            <a:pPr marL="457200" lvl="1" indent="0">
              <a:buNone/>
            </a:pPr>
            <a:r>
              <a:rPr lang="en-US" dirty="0"/>
              <a:t>ON </a:t>
            </a:r>
            <a:r>
              <a:rPr lang="en-US" dirty="0" err="1"/>
              <a:t>c.customer_id</a:t>
            </a:r>
            <a:r>
              <a:rPr lang="en-US" dirty="0"/>
              <a:t> = </a:t>
            </a:r>
            <a:r>
              <a:rPr lang="en-US" dirty="0" err="1"/>
              <a:t>b.customer_id</a:t>
            </a:r>
            <a:endParaRPr lang="en-US" dirty="0"/>
          </a:p>
          <a:p>
            <a:pPr marL="457200" lvl="1" indent="0">
              <a:buNone/>
            </a:pPr>
            <a:r>
              <a:rPr lang="en-US" dirty="0"/>
              <a:t>WHERE </a:t>
            </a:r>
            <a:r>
              <a:rPr lang="en-US" dirty="0" err="1"/>
              <a:t>b.room_id</a:t>
            </a:r>
            <a:r>
              <a:rPr lang="en-US" dirty="0"/>
              <a:t> BETWEEN 1 AND 5;</a:t>
            </a:r>
          </a:p>
          <a:p>
            <a:pPr marL="457200" lvl="1" indent="0">
              <a:buNone/>
            </a:pPr>
            <a:endParaRPr lang="en-US" dirty="0"/>
          </a:p>
          <a:p>
            <a:pPr marL="457200" lvl="1" indent="0">
              <a:buNone/>
            </a:pPr>
            <a:r>
              <a:rPr lang="en-US" sz="2800" b="1" dirty="0"/>
              <a:t>Output:</a:t>
            </a:r>
            <a:endParaRPr lang="en-IN" b="1" dirty="0"/>
          </a:p>
        </p:txBody>
      </p:sp>
      <p:pic>
        <p:nvPicPr>
          <p:cNvPr id="5" name="Picture 4">
            <a:extLst>
              <a:ext uri="{FF2B5EF4-FFF2-40B4-BE49-F238E27FC236}">
                <a16:creationId xmlns:a16="http://schemas.microsoft.com/office/drawing/2014/main" id="{02822D50-9E41-2F4F-B0BE-10829D104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9378" y="2598085"/>
            <a:ext cx="2676170" cy="3578878"/>
          </a:xfrm>
          <a:prstGeom prst="rect">
            <a:avLst/>
          </a:prstGeom>
        </p:spPr>
      </p:pic>
    </p:spTree>
    <p:extLst>
      <p:ext uri="{BB962C8B-B14F-4D97-AF65-F5344CB8AC3E}">
        <p14:creationId xmlns:p14="http://schemas.microsoft.com/office/powerpoint/2010/main" val="428483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1426B-7FB8-3426-67CB-2C2602466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8E07A-C085-AAEE-01EF-2D0BA1A4EEC7}"/>
              </a:ext>
            </a:extLst>
          </p:cNvPr>
          <p:cNvSpPr>
            <a:spLocks noGrp="1"/>
          </p:cNvSpPr>
          <p:nvPr>
            <p:ph type="title"/>
          </p:nvPr>
        </p:nvSpPr>
        <p:spPr/>
        <p:txBody>
          <a:bodyPr>
            <a:normAutofit/>
          </a:bodyPr>
          <a:lstStyle/>
          <a:p>
            <a:r>
              <a:rPr lang="en-US" sz="2400" dirty="0"/>
              <a:t>3. Write a query to identify total payments and total revenue from the Payments table.</a:t>
            </a:r>
            <a:endParaRPr lang="en-IN" sz="2400" dirty="0"/>
          </a:p>
        </p:txBody>
      </p:sp>
      <p:sp>
        <p:nvSpPr>
          <p:cNvPr id="3" name="Content Placeholder 2">
            <a:extLst>
              <a:ext uri="{FF2B5EF4-FFF2-40B4-BE49-F238E27FC236}">
                <a16:creationId xmlns:a16="http://schemas.microsoft.com/office/drawing/2014/main" id="{4F7B0B77-B6B6-A818-1E08-49C12A4A2908}"/>
              </a:ext>
            </a:extLst>
          </p:cNvPr>
          <p:cNvSpPr>
            <a:spLocks noGrp="1"/>
          </p:cNvSpPr>
          <p:nvPr>
            <p:ph idx="1"/>
          </p:nvPr>
        </p:nvSpPr>
        <p:spPr/>
        <p:txBody>
          <a:bodyPr/>
          <a:lstStyle/>
          <a:p>
            <a:pPr marL="0" indent="0">
              <a:buNone/>
            </a:pPr>
            <a:r>
              <a:rPr lang="en-IN" b="1" dirty="0"/>
              <a:t>Query:</a:t>
            </a:r>
          </a:p>
          <a:p>
            <a:pPr marL="457200" lvl="1" indent="0">
              <a:buNone/>
            </a:pPr>
            <a:endParaRPr lang="en-IN" dirty="0"/>
          </a:p>
          <a:p>
            <a:pPr marL="457200" lvl="1" indent="0">
              <a:buNone/>
            </a:pPr>
            <a:r>
              <a:rPr lang="en-US" dirty="0"/>
              <a:t>SELECT COUNT(</a:t>
            </a:r>
            <a:r>
              <a:rPr lang="en-US" dirty="0" err="1"/>
              <a:t>payment_id</a:t>
            </a:r>
            <a:r>
              <a:rPr lang="en-US" dirty="0"/>
              <a:t>) AS </a:t>
            </a:r>
            <a:r>
              <a:rPr lang="en-US" dirty="0" err="1"/>
              <a:t>total_payments</a:t>
            </a:r>
            <a:r>
              <a:rPr lang="en-US" dirty="0"/>
              <a:t>,</a:t>
            </a:r>
          </a:p>
          <a:p>
            <a:pPr marL="457200" lvl="1" indent="0">
              <a:buNone/>
            </a:pPr>
            <a:r>
              <a:rPr lang="en-US" dirty="0"/>
              <a:t>       SUM(amount) AS </a:t>
            </a:r>
            <a:r>
              <a:rPr lang="en-US" dirty="0" err="1"/>
              <a:t>total_revenue</a:t>
            </a:r>
            <a:endParaRPr lang="en-US" dirty="0"/>
          </a:p>
          <a:p>
            <a:pPr marL="457200" lvl="1" indent="0">
              <a:buNone/>
            </a:pPr>
            <a:r>
              <a:rPr lang="en-US" dirty="0"/>
              <a:t>FROM Payments;</a:t>
            </a:r>
          </a:p>
          <a:p>
            <a:pPr marL="457200" lvl="1" indent="0">
              <a:buNone/>
            </a:pPr>
            <a:endParaRPr lang="en-IN" dirty="0"/>
          </a:p>
          <a:p>
            <a:pPr marL="457200" lvl="1" indent="0">
              <a:buNone/>
            </a:pPr>
            <a:r>
              <a:rPr lang="en-IN" b="1" dirty="0"/>
              <a:t>Output:</a:t>
            </a:r>
            <a:endParaRPr lang="en-US" b="1" dirty="0"/>
          </a:p>
        </p:txBody>
      </p:sp>
      <p:pic>
        <p:nvPicPr>
          <p:cNvPr id="5" name="Picture 4">
            <a:extLst>
              <a:ext uri="{FF2B5EF4-FFF2-40B4-BE49-F238E27FC236}">
                <a16:creationId xmlns:a16="http://schemas.microsoft.com/office/drawing/2014/main" id="{250F458E-DA0C-080A-ABC2-1734797EF4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9759" y="4817806"/>
            <a:ext cx="4449389" cy="1048582"/>
          </a:xfrm>
          <a:prstGeom prst="rect">
            <a:avLst/>
          </a:prstGeom>
        </p:spPr>
      </p:pic>
    </p:spTree>
    <p:extLst>
      <p:ext uri="{BB962C8B-B14F-4D97-AF65-F5344CB8AC3E}">
        <p14:creationId xmlns:p14="http://schemas.microsoft.com/office/powerpoint/2010/main" val="1768379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A867A-0E7F-41F8-D54A-8F2466993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4A134-E4E8-594F-D442-B941A8B61FD1}"/>
              </a:ext>
            </a:extLst>
          </p:cNvPr>
          <p:cNvSpPr>
            <a:spLocks noGrp="1"/>
          </p:cNvSpPr>
          <p:nvPr>
            <p:ph type="title"/>
          </p:nvPr>
        </p:nvSpPr>
        <p:spPr/>
        <p:txBody>
          <a:bodyPr>
            <a:normAutofit/>
          </a:bodyPr>
          <a:lstStyle/>
          <a:p>
            <a:r>
              <a:rPr lang="en-US" sz="2400" dirty="0"/>
              <a:t>4. Write a query to display the full name of customers using CONCAT function.</a:t>
            </a:r>
            <a:endParaRPr lang="en-IN" sz="2400" dirty="0"/>
          </a:p>
        </p:txBody>
      </p:sp>
      <p:sp>
        <p:nvSpPr>
          <p:cNvPr id="3" name="Content Placeholder 2">
            <a:extLst>
              <a:ext uri="{FF2B5EF4-FFF2-40B4-BE49-F238E27FC236}">
                <a16:creationId xmlns:a16="http://schemas.microsoft.com/office/drawing/2014/main" id="{F46F0B53-446F-179F-91B0-8541B11E89D8}"/>
              </a:ext>
            </a:extLst>
          </p:cNvPr>
          <p:cNvSpPr>
            <a:spLocks noGrp="1"/>
          </p:cNvSpPr>
          <p:nvPr>
            <p:ph idx="1"/>
          </p:nvPr>
        </p:nvSpPr>
        <p:spPr/>
        <p:txBody>
          <a:bodyPr numCol="2"/>
          <a:lstStyle/>
          <a:p>
            <a:pPr marL="0" indent="0">
              <a:buNone/>
            </a:pPr>
            <a:r>
              <a:rPr lang="en-IN" b="1" dirty="0"/>
              <a:t>Query:</a:t>
            </a:r>
          </a:p>
          <a:p>
            <a:pPr lvl="1"/>
            <a:endParaRPr lang="en-IN" dirty="0"/>
          </a:p>
          <a:p>
            <a:pPr marL="457200" lvl="1" indent="0">
              <a:buNone/>
            </a:pPr>
            <a:r>
              <a:rPr lang="en-US" dirty="0"/>
              <a:t>SELECT CONCAT(</a:t>
            </a:r>
            <a:r>
              <a:rPr lang="en-US" dirty="0" err="1"/>
              <a:t>first_name</a:t>
            </a:r>
            <a:r>
              <a:rPr lang="en-US" dirty="0"/>
              <a:t>,' ',</a:t>
            </a:r>
            <a:r>
              <a:rPr lang="en-US" dirty="0" err="1"/>
              <a:t>last_name</a:t>
            </a:r>
            <a:r>
              <a:rPr lang="en-US" dirty="0"/>
              <a:t>) AS </a:t>
            </a:r>
            <a:r>
              <a:rPr lang="en-US" dirty="0" err="1"/>
              <a:t>full_name</a:t>
            </a:r>
            <a:endParaRPr lang="en-US" dirty="0"/>
          </a:p>
          <a:p>
            <a:pPr marL="457200" lvl="1" indent="0">
              <a:buNone/>
            </a:pPr>
            <a:r>
              <a:rPr lang="en-US" dirty="0"/>
              <a:t>FROM Customers;</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r>
              <a:rPr lang="en-US" sz="2800" b="1" dirty="0"/>
              <a:t>Output:</a:t>
            </a:r>
            <a:endParaRPr lang="en-IN" b="1" dirty="0"/>
          </a:p>
        </p:txBody>
      </p:sp>
      <p:pic>
        <p:nvPicPr>
          <p:cNvPr id="5" name="Picture 4">
            <a:extLst>
              <a:ext uri="{FF2B5EF4-FFF2-40B4-BE49-F238E27FC236}">
                <a16:creationId xmlns:a16="http://schemas.microsoft.com/office/drawing/2014/main" id="{A1934E9C-A442-BDDB-41A9-01EAB6C25F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5982" y="1825625"/>
            <a:ext cx="1561412" cy="4771468"/>
          </a:xfrm>
          <a:prstGeom prst="rect">
            <a:avLst/>
          </a:prstGeom>
        </p:spPr>
      </p:pic>
    </p:spTree>
    <p:extLst>
      <p:ext uri="{BB962C8B-B14F-4D97-AF65-F5344CB8AC3E}">
        <p14:creationId xmlns:p14="http://schemas.microsoft.com/office/powerpoint/2010/main" val="288979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F977-F052-7686-575C-31F4DDC4D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6DE65-5368-632B-98B7-CAFAB88BDEC1}"/>
              </a:ext>
            </a:extLst>
          </p:cNvPr>
          <p:cNvSpPr>
            <a:spLocks noGrp="1"/>
          </p:cNvSpPr>
          <p:nvPr>
            <p:ph type="title"/>
          </p:nvPr>
        </p:nvSpPr>
        <p:spPr/>
        <p:txBody>
          <a:bodyPr>
            <a:normAutofit/>
          </a:bodyPr>
          <a:lstStyle/>
          <a:p>
            <a:r>
              <a:rPr lang="en-US" sz="2400" dirty="0"/>
              <a:t>5. Write a query to display customers who have booked rooms using Customers and Bookings tables.</a:t>
            </a:r>
            <a:endParaRPr lang="en-IN" sz="2400" dirty="0"/>
          </a:p>
        </p:txBody>
      </p:sp>
      <p:sp>
        <p:nvSpPr>
          <p:cNvPr id="3" name="Content Placeholder 2">
            <a:extLst>
              <a:ext uri="{FF2B5EF4-FFF2-40B4-BE49-F238E27FC236}">
                <a16:creationId xmlns:a16="http://schemas.microsoft.com/office/drawing/2014/main" id="{9FFC68BD-DF06-5EA8-875E-2329AE6C6594}"/>
              </a:ext>
            </a:extLst>
          </p:cNvPr>
          <p:cNvSpPr>
            <a:spLocks noGrp="1"/>
          </p:cNvSpPr>
          <p:nvPr>
            <p:ph idx="1"/>
          </p:nvPr>
        </p:nvSpPr>
        <p:spPr/>
        <p:txBody>
          <a:bodyPr numCol="2"/>
          <a:lstStyle/>
          <a:p>
            <a:pPr marL="0" indent="0">
              <a:buNone/>
            </a:pPr>
            <a:r>
              <a:rPr lang="en-IN" b="1" dirty="0"/>
              <a:t>Query:</a:t>
            </a:r>
          </a:p>
          <a:p>
            <a:endParaRPr lang="en-IN" dirty="0"/>
          </a:p>
          <a:p>
            <a:pPr marL="457200" lvl="1" indent="0">
              <a:buNone/>
            </a:pPr>
            <a:r>
              <a:rPr lang="en-US" dirty="0"/>
              <a:t>SELECT DISTINCT </a:t>
            </a:r>
            <a:r>
              <a:rPr lang="en-US" dirty="0" err="1"/>
              <a:t>c.customer_id</a:t>
            </a:r>
            <a:r>
              <a:rPr lang="en-US" dirty="0"/>
              <a:t>,</a:t>
            </a:r>
          </a:p>
          <a:p>
            <a:pPr marL="457200" lvl="1" indent="0">
              <a:buNone/>
            </a:pPr>
            <a:r>
              <a:rPr lang="en-US" dirty="0"/>
              <a:t>       </a:t>
            </a:r>
            <a:r>
              <a:rPr lang="en-US" dirty="0" err="1"/>
              <a:t>c.first_name</a:t>
            </a:r>
            <a:r>
              <a:rPr lang="en-US" dirty="0"/>
              <a:t>,</a:t>
            </a:r>
          </a:p>
          <a:p>
            <a:pPr marL="457200" lvl="1" indent="0">
              <a:buNone/>
            </a:pPr>
            <a:r>
              <a:rPr lang="en-US" dirty="0"/>
              <a:t>       </a:t>
            </a:r>
            <a:r>
              <a:rPr lang="en-US" dirty="0" err="1"/>
              <a:t>c.last_name</a:t>
            </a:r>
            <a:endParaRPr lang="en-US" dirty="0"/>
          </a:p>
          <a:p>
            <a:pPr marL="457200" lvl="1" indent="0">
              <a:buNone/>
            </a:pPr>
            <a:r>
              <a:rPr lang="en-US" dirty="0"/>
              <a:t>FROM Customers c</a:t>
            </a:r>
          </a:p>
          <a:p>
            <a:pPr marL="457200" lvl="1" indent="0">
              <a:buNone/>
            </a:pPr>
            <a:r>
              <a:rPr lang="en-US" dirty="0"/>
              <a:t>INNER JOIN Bookings b</a:t>
            </a:r>
          </a:p>
          <a:p>
            <a:pPr marL="457200" lvl="1" indent="0">
              <a:buNone/>
            </a:pPr>
            <a:r>
              <a:rPr lang="en-US" dirty="0"/>
              <a:t>ON </a:t>
            </a:r>
            <a:r>
              <a:rPr lang="en-US" dirty="0" err="1"/>
              <a:t>c.customer_id</a:t>
            </a:r>
            <a:r>
              <a:rPr lang="en-US" dirty="0"/>
              <a:t>=</a:t>
            </a:r>
            <a:r>
              <a:rPr lang="en-US" dirty="0" err="1"/>
              <a:t>b.customer_id</a:t>
            </a:r>
            <a:endParaRPr lang="en-US" dirty="0"/>
          </a:p>
          <a:p>
            <a:pPr marL="457200" lvl="1" indent="0">
              <a:buNone/>
            </a:pPr>
            <a:r>
              <a:rPr lang="en-US" dirty="0"/>
              <a:t>ORDER BY </a:t>
            </a:r>
            <a:r>
              <a:rPr lang="en-US" dirty="0" err="1"/>
              <a:t>c.customer_id</a:t>
            </a:r>
            <a:r>
              <a:rPr lang="en-US" dirty="0"/>
              <a:t>;</a:t>
            </a:r>
          </a:p>
          <a:p>
            <a:pPr marL="457200" lvl="1" indent="0">
              <a:buNone/>
            </a:pPr>
            <a:endParaRPr lang="en-US" dirty="0"/>
          </a:p>
          <a:p>
            <a:pPr marL="457200" lvl="1" indent="0">
              <a:buNone/>
            </a:pPr>
            <a:r>
              <a:rPr lang="en-US" b="1" dirty="0"/>
              <a:t>Output:</a:t>
            </a:r>
            <a:endParaRPr lang="en-IN" b="1" dirty="0"/>
          </a:p>
        </p:txBody>
      </p:sp>
      <p:pic>
        <p:nvPicPr>
          <p:cNvPr id="5" name="Picture 4">
            <a:extLst>
              <a:ext uri="{FF2B5EF4-FFF2-40B4-BE49-F238E27FC236}">
                <a16:creationId xmlns:a16="http://schemas.microsoft.com/office/drawing/2014/main" id="{3A840D47-66A9-F141-4064-3B13DA5D67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0837" y="2161607"/>
            <a:ext cx="2649343" cy="3878126"/>
          </a:xfrm>
          <a:prstGeom prst="rect">
            <a:avLst/>
          </a:prstGeom>
        </p:spPr>
      </p:pic>
    </p:spTree>
    <p:extLst>
      <p:ext uri="{BB962C8B-B14F-4D97-AF65-F5344CB8AC3E}">
        <p14:creationId xmlns:p14="http://schemas.microsoft.com/office/powerpoint/2010/main" val="1849425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2D198-3D8C-D149-5DD1-5D6E8F03C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95A6E-5B8C-6B3F-9ED7-609660361DB0}"/>
              </a:ext>
            </a:extLst>
          </p:cNvPr>
          <p:cNvSpPr>
            <a:spLocks noGrp="1"/>
          </p:cNvSpPr>
          <p:nvPr>
            <p:ph type="title"/>
          </p:nvPr>
        </p:nvSpPr>
        <p:spPr/>
        <p:txBody>
          <a:bodyPr>
            <a:normAutofit/>
          </a:bodyPr>
          <a:lstStyle/>
          <a:p>
            <a:r>
              <a:rPr lang="en-US" sz="2400" dirty="0"/>
              <a:t>6. Write a query to identify customer first name and last name who paid using UPI.</a:t>
            </a:r>
            <a:endParaRPr lang="en-IN" sz="2400" dirty="0"/>
          </a:p>
        </p:txBody>
      </p:sp>
      <p:sp>
        <p:nvSpPr>
          <p:cNvPr id="3" name="Content Placeholder 2">
            <a:extLst>
              <a:ext uri="{FF2B5EF4-FFF2-40B4-BE49-F238E27FC236}">
                <a16:creationId xmlns:a16="http://schemas.microsoft.com/office/drawing/2014/main" id="{12887289-EEFE-B03A-8ECA-303EDD33E4D6}"/>
              </a:ext>
            </a:extLst>
          </p:cNvPr>
          <p:cNvSpPr>
            <a:spLocks noGrp="1"/>
          </p:cNvSpPr>
          <p:nvPr>
            <p:ph idx="1"/>
          </p:nvPr>
        </p:nvSpPr>
        <p:spPr/>
        <p:txBody>
          <a:bodyPr numCol="2">
            <a:normAutofit/>
          </a:bodyPr>
          <a:lstStyle/>
          <a:p>
            <a:pPr marL="0" indent="0">
              <a:buNone/>
            </a:pPr>
            <a:r>
              <a:rPr lang="en-IN" b="1" dirty="0"/>
              <a:t>Query:</a:t>
            </a:r>
          </a:p>
          <a:p>
            <a:endParaRPr lang="en-IN" dirty="0"/>
          </a:p>
          <a:p>
            <a:pPr marL="0" indent="0">
              <a:buNone/>
            </a:pPr>
            <a:r>
              <a:rPr lang="en-IN" dirty="0"/>
              <a:t>	</a:t>
            </a:r>
            <a:r>
              <a:rPr lang="en-IN" sz="2200" dirty="0"/>
              <a:t>SELECT </a:t>
            </a:r>
            <a:r>
              <a:rPr lang="en-IN" sz="2200" dirty="0" err="1"/>
              <a:t>c.customer_id</a:t>
            </a:r>
            <a:r>
              <a:rPr lang="en-IN" sz="2200" dirty="0"/>
              <a:t>,</a:t>
            </a:r>
          </a:p>
          <a:p>
            <a:pPr marL="0" indent="0">
              <a:buNone/>
            </a:pPr>
            <a:r>
              <a:rPr lang="en-IN" sz="2200" dirty="0"/>
              <a:t>       </a:t>
            </a:r>
            <a:r>
              <a:rPr lang="en-IN" sz="2200" dirty="0" err="1"/>
              <a:t>c.first_name</a:t>
            </a:r>
            <a:r>
              <a:rPr lang="en-IN" sz="2200" dirty="0"/>
              <a:t>,</a:t>
            </a:r>
          </a:p>
          <a:p>
            <a:pPr marL="0" indent="0">
              <a:buNone/>
            </a:pPr>
            <a:r>
              <a:rPr lang="en-IN" sz="2200" dirty="0"/>
              <a:t>       </a:t>
            </a:r>
            <a:r>
              <a:rPr lang="en-IN" sz="2200" dirty="0" err="1"/>
              <a:t>c.last_name</a:t>
            </a:r>
            <a:r>
              <a:rPr lang="en-IN" sz="2200" dirty="0"/>
              <a:t>,</a:t>
            </a:r>
          </a:p>
          <a:p>
            <a:pPr marL="0" indent="0">
              <a:buNone/>
            </a:pPr>
            <a:r>
              <a:rPr lang="en-IN" sz="2200" dirty="0"/>
              <a:t>       </a:t>
            </a:r>
            <a:r>
              <a:rPr lang="en-IN" sz="2200" dirty="0" err="1"/>
              <a:t>p.payment_method</a:t>
            </a:r>
            <a:endParaRPr lang="en-IN" sz="2200" dirty="0"/>
          </a:p>
          <a:p>
            <a:pPr marL="0" indent="0">
              <a:buNone/>
            </a:pPr>
            <a:r>
              <a:rPr lang="en-IN" sz="2200" dirty="0"/>
              <a:t>FROM Customers c</a:t>
            </a:r>
          </a:p>
          <a:p>
            <a:pPr marL="0" indent="0">
              <a:buNone/>
            </a:pPr>
            <a:r>
              <a:rPr lang="en-IN" sz="2200" dirty="0"/>
              <a:t>JOIN Bookings b</a:t>
            </a:r>
          </a:p>
          <a:p>
            <a:pPr marL="0" indent="0">
              <a:buNone/>
            </a:pPr>
            <a:r>
              <a:rPr lang="en-IN" sz="2200" dirty="0"/>
              <a:t>ON </a:t>
            </a:r>
            <a:r>
              <a:rPr lang="en-IN" sz="2200" dirty="0" err="1"/>
              <a:t>c.customer_id</a:t>
            </a:r>
            <a:r>
              <a:rPr lang="en-IN" sz="2200" dirty="0"/>
              <a:t>=</a:t>
            </a:r>
            <a:r>
              <a:rPr lang="en-IN" sz="2200" dirty="0" err="1"/>
              <a:t>b.customer_id</a:t>
            </a:r>
            <a:endParaRPr lang="en-IN" sz="2200" dirty="0"/>
          </a:p>
          <a:p>
            <a:pPr marL="0" indent="0">
              <a:buNone/>
            </a:pPr>
            <a:r>
              <a:rPr lang="en-IN" sz="2200" dirty="0"/>
              <a:t>JOIN Payments p</a:t>
            </a:r>
          </a:p>
          <a:p>
            <a:pPr marL="0" indent="0">
              <a:buNone/>
            </a:pPr>
            <a:r>
              <a:rPr lang="en-IN" sz="2200" dirty="0"/>
              <a:t>ON </a:t>
            </a:r>
            <a:r>
              <a:rPr lang="en-IN" sz="2200" dirty="0" err="1"/>
              <a:t>b.booking_id</a:t>
            </a:r>
            <a:r>
              <a:rPr lang="en-IN" sz="2200" dirty="0"/>
              <a:t>=</a:t>
            </a:r>
            <a:r>
              <a:rPr lang="en-IN" sz="2200" dirty="0" err="1"/>
              <a:t>p.booking_id</a:t>
            </a:r>
            <a:endParaRPr lang="en-IN" sz="2200" dirty="0"/>
          </a:p>
          <a:p>
            <a:pPr marL="0" indent="0">
              <a:buNone/>
            </a:pPr>
            <a:r>
              <a:rPr lang="en-IN" sz="2200" dirty="0"/>
              <a:t>WHERE </a:t>
            </a:r>
            <a:r>
              <a:rPr lang="en-IN" sz="2200" dirty="0" err="1"/>
              <a:t>p.payment_method</a:t>
            </a:r>
            <a:r>
              <a:rPr lang="en-IN" sz="2200" dirty="0"/>
              <a:t>='UPI’;</a:t>
            </a:r>
          </a:p>
          <a:p>
            <a:pPr marL="0" indent="0">
              <a:buNone/>
            </a:pPr>
            <a:r>
              <a:rPr lang="en-IN" b="1" dirty="0"/>
              <a:t>Output:</a:t>
            </a:r>
            <a:endParaRPr lang="en-IN" sz="2200" b="1" dirty="0"/>
          </a:p>
        </p:txBody>
      </p:sp>
      <p:pic>
        <p:nvPicPr>
          <p:cNvPr id="5" name="Picture 4">
            <a:extLst>
              <a:ext uri="{FF2B5EF4-FFF2-40B4-BE49-F238E27FC236}">
                <a16:creationId xmlns:a16="http://schemas.microsoft.com/office/drawing/2014/main" id="{11E449EE-6871-8E73-9A30-708B9C20BB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9167" y="3923070"/>
            <a:ext cx="3995367" cy="1757962"/>
          </a:xfrm>
          <a:prstGeom prst="rect">
            <a:avLst/>
          </a:prstGeom>
        </p:spPr>
      </p:pic>
    </p:spTree>
    <p:extLst>
      <p:ext uri="{BB962C8B-B14F-4D97-AF65-F5344CB8AC3E}">
        <p14:creationId xmlns:p14="http://schemas.microsoft.com/office/powerpoint/2010/main" val="1819162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F19CA-D1B1-2C92-5B1F-F06A0310E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C19D9-9956-9BD9-9D87-F8EFE6086235}"/>
              </a:ext>
            </a:extLst>
          </p:cNvPr>
          <p:cNvSpPr>
            <a:spLocks noGrp="1"/>
          </p:cNvSpPr>
          <p:nvPr>
            <p:ph type="title"/>
          </p:nvPr>
        </p:nvSpPr>
        <p:spPr/>
        <p:txBody>
          <a:bodyPr>
            <a:normAutofit/>
          </a:bodyPr>
          <a:lstStyle/>
          <a:p>
            <a:r>
              <a:rPr lang="en-US" sz="2400" dirty="0"/>
              <a:t>7. Write a query to identify customers who booked Deluxe rooms using GROUP BY and HAVING clause.</a:t>
            </a:r>
            <a:endParaRPr lang="en-IN" sz="2400" dirty="0"/>
          </a:p>
        </p:txBody>
      </p:sp>
      <p:sp>
        <p:nvSpPr>
          <p:cNvPr id="3" name="Content Placeholder 2">
            <a:extLst>
              <a:ext uri="{FF2B5EF4-FFF2-40B4-BE49-F238E27FC236}">
                <a16:creationId xmlns:a16="http://schemas.microsoft.com/office/drawing/2014/main" id="{45912B45-4403-0361-5D05-C5AC1B99F9BD}"/>
              </a:ext>
            </a:extLst>
          </p:cNvPr>
          <p:cNvSpPr>
            <a:spLocks noGrp="1"/>
          </p:cNvSpPr>
          <p:nvPr>
            <p:ph idx="1"/>
          </p:nvPr>
        </p:nvSpPr>
        <p:spPr/>
        <p:txBody>
          <a:bodyPr numCol="2">
            <a:normAutofit/>
          </a:bodyPr>
          <a:lstStyle/>
          <a:p>
            <a:pPr marL="0" indent="0">
              <a:buNone/>
            </a:pPr>
            <a:r>
              <a:rPr lang="en-IN" b="1" dirty="0"/>
              <a:t>Query:</a:t>
            </a:r>
          </a:p>
          <a:p>
            <a:endParaRPr lang="en-IN" dirty="0"/>
          </a:p>
          <a:p>
            <a:pPr marL="0" indent="0">
              <a:buNone/>
            </a:pPr>
            <a:r>
              <a:rPr lang="en-IN" dirty="0"/>
              <a:t>	</a:t>
            </a:r>
            <a:r>
              <a:rPr lang="en-IN" sz="2200" dirty="0"/>
              <a:t>SELECT </a:t>
            </a:r>
            <a:r>
              <a:rPr lang="en-IN" sz="2200" dirty="0" err="1"/>
              <a:t>c.customer_id</a:t>
            </a:r>
            <a:r>
              <a:rPr lang="en-IN" sz="2200" dirty="0"/>
              <a:t>,</a:t>
            </a:r>
          </a:p>
          <a:p>
            <a:pPr marL="0" indent="0">
              <a:buNone/>
            </a:pPr>
            <a:r>
              <a:rPr lang="en-IN" sz="2200" dirty="0"/>
              <a:t>       </a:t>
            </a:r>
            <a:r>
              <a:rPr lang="en-IN" sz="2200" dirty="0" err="1"/>
              <a:t>c.first_name</a:t>
            </a:r>
            <a:r>
              <a:rPr lang="en-IN" sz="2200" dirty="0"/>
              <a:t>,</a:t>
            </a:r>
          </a:p>
          <a:p>
            <a:pPr marL="0" indent="0">
              <a:buNone/>
            </a:pPr>
            <a:r>
              <a:rPr lang="en-IN" sz="2200" dirty="0"/>
              <a:t>       </a:t>
            </a:r>
            <a:r>
              <a:rPr lang="en-IN" sz="2200" dirty="0" err="1"/>
              <a:t>r.room_type</a:t>
            </a:r>
            <a:endParaRPr lang="en-IN" sz="2200" dirty="0"/>
          </a:p>
          <a:p>
            <a:pPr marL="0" indent="0">
              <a:buNone/>
            </a:pPr>
            <a:r>
              <a:rPr lang="en-IN" sz="2200" dirty="0"/>
              <a:t>FROM Customers c</a:t>
            </a:r>
          </a:p>
          <a:p>
            <a:pPr marL="0" indent="0">
              <a:buNone/>
            </a:pPr>
            <a:r>
              <a:rPr lang="en-IN" sz="2200" dirty="0"/>
              <a:t>JOIN Bookings b</a:t>
            </a:r>
          </a:p>
          <a:p>
            <a:pPr marL="0" indent="0">
              <a:buNone/>
            </a:pPr>
            <a:r>
              <a:rPr lang="en-IN" sz="2200" dirty="0"/>
              <a:t>ON </a:t>
            </a:r>
            <a:r>
              <a:rPr lang="en-IN" sz="2200" dirty="0" err="1"/>
              <a:t>c.customer_id</a:t>
            </a:r>
            <a:r>
              <a:rPr lang="en-IN" sz="2200" dirty="0"/>
              <a:t>=</a:t>
            </a:r>
            <a:r>
              <a:rPr lang="en-IN" sz="2200" dirty="0" err="1"/>
              <a:t>b.customer_id</a:t>
            </a:r>
            <a:endParaRPr lang="en-IN" sz="2200" dirty="0"/>
          </a:p>
          <a:p>
            <a:pPr marL="0" indent="0">
              <a:buNone/>
            </a:pPr>
            <a:r>
              <a:rPr lang="en-IN" sz="2200" dirty="0"/>
              <a:t>JOIN Rooms r</a:t>
            </a:r>
          </a:p>
          <a:p>
            <a:pPr marL="0" indent="0">
              <a:buNone/>
            </a:pPr>
            <a:r>
              <a:rPr lang="en-IN" sz="2200" dirty="0"/>
              <a:t>ON </a:t>
            </a:r>
            <a:r>
              <a:rPr lang="en-IN" sz="2200" dirty="0" err="1"/>
              <a:t>b.room_id</a:t>
            </a:r>
            <a:r>
              <a:rPr lang="en-IN" sz="2200" dirty="0"/>
              <a:t>=</a:t>
            </a:r>
            <a:r>
              <a:rPr lang="en-IN" sz="2200" dirty="0" err="1"/>
              <a:t>r.room_id</a:t>
            </a:r>
            <a:endParaRPr lang="en-IN" sz="2200" dirty="0"/>
          </a:p>
          <a:p>
            <a:pPr marL="0" indent="0">
              <a:buNone/>
            </a:pPr>
            <a:r>
              <a:rPr lang="en-IN" sz="2200" dirty="0"/>
              <a:t>GROUP BY </a:t>
            </a:r>
            <a:r>
              <a:rPr lang="en-IN" sz="2200" dirty="0" err="1"/>
              <a:t>c.customer_id,c.first_name,r.room_type</a:t>
            </a:r>
            <a:endParaRPr lang="en-IN" sz="2200" dirty="0"/>
          </a:p>
          <a:p>
            <a:pPr marL="0" indent="0">
              <a:buNone/>
            </a:pPr>
            <a:r>
              <a:rPr lang="en-IN" sz="2200" dirty="0"/>
              <a:t>HAVING </a:t>
            </a:r>
            <a:r>
              <a:rPr lang="en-IN" sz="2200" dirty="0" err="1"/>
              <a:t>r.room_type</a:t>
            </a:r>
            <a:r>
              <a:rPr lang="en-IN" sz="2200" dirty="0"/>
              <a:t>='Deluxe’;</a:t>
            </a:r>
          </a:p>
          <a:p>
            <a:pPr marL="0" indent="0">
              <a:buNone/>
            </a:pPr>
            <a:r>
              <a:rPr lang="en-IN" b="1" dirty="0"/>
              <a:t>Output:</a:t>
            </a:r>
          </a:p>
        </p:txBody>
      </p:sp>
      <p:pic>
        <p:nvPicPr>
          <p:cNvPr id="5" name="Picture 4">
            <a:extLst>
              <a:ext uri="{FF2B5EF4-FFF2-40B4-BE49-F238E27FC236}">
                <a16:creationId xmlns:a16="http://schemas.microsoft.com/office/drawing/2014/main" id="{FD954E35-93B9-16E8-4D6C-B463C192E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8225" y="4159045"/>
            <a:ext cx="3290049" cy="2152856"/>
          </a:xfrm>
          <a:prstGeom prst="rect">
            <a:avLst/>
          </a:prstGeom>
        </p:spPr>
      </p:pic>
    </p:spTree>
    <p:extLst>
      <p:ext uri="{BB962C8B-B14F-4D97-AF65-F5344CB8AC3E}">
        <p14:creationId xmlns:p14="http://schemas.microsoft.com/office/powerpoint/2010/main" val="1066553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FCF8B-99FD-CDD7-5E8B-0B2927882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C559E-28C6-63A5-E625-63A8DA557645}"/>
              </a:ext>
            </a:extLst>
          </p:cNvPr>
          <p:cNvSpPr>
            <a:spLocks noGrp="1"/>
          </p:cNvSpPr>
          <p:nvPr>
            <p:ph type="title"/>
          </p:nvPr>
        </p:nvSpPr>
        <p:spPr/>
        <p:txBody>
          <a:bodyPr>
            <a:normAutofit/>
          </a:bodyPr>
          <a:lstStyle/>
          <a:p>
            <a:r>
              <a:rPr lang="en-US" sz="2400" dirty="0"/>
              <a:t>8. Write a query to identify whether hotel revenue crossed 100000 using IF clause.</a:t>
            </a:r>
            <a:endParaRPr lang="en-IN" sz="2400" dirty="0"/>
          </a:p>
        </p:txBody>
      </p:sp>
      <p:sp>
        <p:nvSpPr>
          <p:cNvPr id="3" name="Content Placeholder 2">
            <a:extLst>
              <a:ext uri="{FF2B5EF4-FFF2-40B4-BE49-F238E27FC236}">
                <a16:creationId xmlns:a16="http://schemas.microsoft.com/office/drawing/2014/main" id="{585BEEB9-8040-72DF-EE47-910EB6E18047}"/>
              </a:ext>
            </a:extLst>
          </p:cNvPr>
          <p:cNvSpPr>
            <a:spLocks noGrp="1"/>
          </p:cNvSpPr>
          <p:nvPr>
            <p:ph idx="1"/>
          </p:nvPr>
        </p:nvSpPr>
        <p:spPr/>
        <p:txBody>
          <a:bodyPr numCol="2"/>
          <a:lstStyle/>
          <a:p>
            <a:pPr marL="0" indent="0">
              <a:buNone/>
            </a:pPr>
            <a:r>
              <a:rPr lang="en-IN" b="1" dirty="0"/>
              <a:t>Query:</a:t>
            </a:r>
          </a:p>
          <a:p>
            <a:pPr marL="457200" lvl="1" indent="0">
              <a:buNone/>
            </a:pPr>
            <a:endParaRPr lang="en-IN" dirty="0"/>
          </a:p>
          <a:p>
            <a:pPr marL="457200" lvl="1" indent="0">
              <a:buNone/>
            </a:pPr>
            <a:r>
              <a:rPr lang="en-US" dirty="0"/>
              <a:t>SELECT SUM(amount) AS </a:t>
            </a:r>
            <a:r>
              <a:rPr lang="en-US" dirty="0" err="1"/>
              <a:t>total_revenue</a:t>
            </a:r>
            <a:r>
              <a:rPr lang="en-US" dirty="0"/>
              <a:t>,</a:t>
            </a:r>
          </a:p>
          <a:p>
            <a:pPr marL="457200" lvl="1" indent="0">
              <a:buNone/>
            </a:pPr>
            <a:r>
              <a:rPr lang="en-US" dirty="0"/>
              <a:t>IF(SUM(amount)&gt;100000,</a:t>
            </a:r>
          </a:p>
          <a:p>
            <a:pPr marL="457200" lvl="1" indent="0">
              <a:buNone/>
            </a:pPr>
            <a:r>
              <a:rPr lang="en-US" dirty="0"/>
              <a:t>'Revenue Crossed 100000',</a:t>
            </a:r>
          </a:p>
          <a:p>
            <a:pPr marL="457200" lvl="1" indent="0">
              <a:buNone/>
            </a:pPr>
            <a:r>
              <a:rPr lang="en-US" dirty="0"/>
              <a:t>'Revenue Below 100000') AS </a:t>
            </a:r>
            <a:r>
              <a:rPr lang="en-US" dirty="0" err="1"/>
              <a:t>revenue_status</a:t>
            </a:r>
            <a:endParaRPr lang="en-US" dirty="0"/>
          </a:p>
          <a:p>
            <a:pPr marL="457200" lvl="1" indent="0">
              <a:buNone/>
            </a:pPr>
            <a:r>
              <a:rPr lang="en-US" dirty="0"/>
              <a:t>FROM Payments;</a:t>
            </a:r>
          </a:p>
          <a:p>
            <a:pPr marL="457200" lvl="1" indent="0">
              <a:buNone/>
            </a:pPr>
            <a:endParaRPr lang="en-US" dirty="0"/>
          </a:p>
          <a:p>
            <a:pPr marL="457200" lvl="1" indent="0">
              <a:buNone/>
            </a:pPr>
            <a:endParaRPr lang="en-US" dirty="0"/>
          </a:p>
          <a:p>
            <a:pPr marL="457200" lvl="1" indent="0">
              <a:buNone/>
            </a:pPr>
            <a:r>
              <a:rPr lang="en-US" sz="2800" b="1" dirty="0"/>
              <a:t>Output:</a:t>
            </a:r>
            <a:endParaRPr lang="en-IN" b="1" dirty="0"/>
          </a:p>
        </p:txBody>
      </p:sp>
      <p:pic>
        <p:nvPicPr>
          <p:cNvPr id="5" name="Picture 4">
            <a:extLst>
              <a:ext uri="{FF2B5EF4-FFF2-40B4-BE49-F238E27FC236}">
                <a16:creationId xmlns:a16="http://schemas.microsoft.com/office/drawing/2014/main" id="{24F434BE-6D6E-73A1-5A04-53D8E501FF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2214" y="2871020"/>
            <a:ext cx="5386119" cy="784644"/>
          </a:xfrm>
          <a:prstGeom prst="rect">
            <a:avLst/>
          </a:prstGeom>
        </p:spPr>
      </p:pic>
    </p:spTree>
    <p:extLst>
      <p:ext uri="{BB962C8B-B14F-4D97-AF65-F5344CB8AC3E}">
        <p14:creationId xmlns:p14="http://schemas.microsoft.com/office/powerpoint/2010/main" val="456305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2821A-3CF9-597F-1996-F3405AA75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159EF-3896-AA2F-1C52-B57186D046C5}"/>
              </a:ext>
            </a:extLst>
          </p:cNvPr>
          <p:cNvSpPr>
            <a:spLocks noGrp="1"/>
          </p:cNvSpPr>
          <p:nvPr>
            <p:ph type="title"/>
          </p:nvPr>
        </p:nvSpPr>
        <p:spPr/>
        <p:txBody>
          <a:bodyPr>
            <a:normAutofit/>
          </a:bodyPr>
          <a:lstStyle/>
          <a:p>
            <a:r>
              <a:rPr lang="en-US" sz="2400" dirty="0"/>
              <a:t>9. Write a query to create and grant access to a new database user.</a:t>
            </a:r>
            <a:endParaRPr lang="en-IN" sz="2400" dirty="0"/>
          </a:p>
        </p:txBody>
      </p:sp>
      <p:sp>
        <p:nvSpPr>
          <p:cNvPr id="3" name="Content Placeholder 2">
            <a:extLst>
              <a:ext uri="{FF2B5EF4-FFF2-40B4-BE49-F238E27FC236}">
                <a16:creationId xmlns:a16="http://schemas.microsoft.com/office/drawing/2014/main" id="{F2580387-6584-3E5E-0705-DEF7C4B2A3AF}"/>
              </a:ext>
            </a:extLst>
          </p:cNvPr>
          <p:cNvSpPr>
            <a:spLocks noGrp="1"/>
          </p:cNvSpPr>
          <p:nvPr>
            <p:ph idx="1"/>
          </p:nvPr>
        </p:nvSpPr>
        <p:spPr/>
        <p:txBody>
          <a:bodyPr/>
          <a:lstStyle/>
          <a:p>
            <a:pPr marL="0" indent="0">
              <a:buNone/>
            </a:pPr>
            <a:r>
              <a:rPr lang="en-IN" b="1" dirty="0"/>
              <a:t>Query:</a:t>
            </a:r>
          </a:p>
          <a:p>
            <a:pPr marL="457200" lvl="1" indent="0">
              <a:buNone/>
            </a:pPr>
            <a:endParaRPr lang="en-IN" dirty="0"/>
          </a:p>
          <a:p>
            <a:pPr marL="457200" lvl="1" indent="0">
              <a:buNone/>
            </a:pPr>
            <a:r>
              <a:rPr lang="en-US" dirty="0"/>
              <a:t>CREATE USER '</a:t>
            </a:r>
            <a:r>
              <a:rPr lang="en-US" dirty="0" err="1"/>
              <a:t>hoteladmin</a:t>
            </a:r>
            <a:r>
              <a:rPr lang="en-US" dirty="0"/>
              <a:t>'@'localhost'</a:t>
            </a:r>
          </a:p>
          <a:p>
            <a:pPr marL="457200" lvl="1" indent="0">
              <a:buNone/>
            </a:pPr>
            <a:r>
              <a:rPr lang="en-US" dirty="0"/>
              <a:t>IDENTIFIED BY 'password';</a:t>
            </a:r>
          </a:p>
          <a:p>
            <a:pPr marL="457200" lvl="1" indent="0">
              <a:buNone/>
            </a:pPr>
            <a:endParaRPr lang="en-US" dirty="0"/>
          </a:p>
          <a:p>
            <a:pPr marL="457200" lvl="1" indent="0">
              <a:buNone/>
            </a:pPr>
            <a:r>
              <a:rPr lang="en-US" dirty="0"/>
              <a:t>GRANT ALL PRIVILEGES</a:t>
            </a:r>
          </a:p>
          <a:p>
            <a:pPr marL="457200" lvl="1" indent="0">
              <a:buNone/>
            </a:pPr>
            <a:r>
              <a:rPr lang="en-US" dirty="0"/>
              <a:t>ON *.* TO '</a:t>
            </a:r>
            <a:r>
              <a:rPr lang="en-US" dirty="0" err="1"/>
              <a:t>hoteladmin</a:t>
            </a:r>
            <a:r>
              <a:rPr lang="en-US" dirty="0"/>
              <a:t>'@'localhost'</a:t>
            </a:r>
          </a:p>
          <a:p>
            <a:pPr marL="457200" lvl="1" indent="0">
              <a:buNone/>
            </a:pPr>
            <a:r>
              <a:rPr lang="en-US" dirty="0"/>
              <a:t>WITH GRANT OPTION;</a:t>
            </a:r>
            <a:endParaRPr lang="en-IN" dirty="0"/>
          </a:p>
        </p:txBody>
      </p:sp>
    </p:spTree>
    <p:extLst>
      <p:ext uri="{BB962C8B-B14F-4D97-AF65-F5344CB8AC3E}">
        <p14:creationId xmlns:p14="http://schemas.microsoft.com/office/powerpoint/2010/main" val="2566794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46FA4-7D30-4C38-4BC8-1F8E1D3D9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7D1159-84EB-45EC-198D-6E714615FBD2}"/>
              </a:ext>
            </a:extLst>
          </p:cNvPr>
          <p:cNvSpPr>
            <a:spLocks noGrp="1"/>
          </p:cNvSpPr>
          <p:nvPr>
            <p:ph type="title"/>
          </p:nvPr>
        </p:nvSpPr>
        <p:spPr/>
        <p:txBody>
          <a:bodyPr>
            <a:normAutofit/>
          </a:bodyPr>
          <a:lstStyle/>
          <a:p>
            <a:r>
              <a:rPr lang="en-US" sz="2400" dirty="0"/>
              <a:t>10. Write a query to find maximum room price for each room type.</a:t>
            </a:r>
            <a:endParaRPr lang="en-IN" sz="2400" dirty="0"/>
          </a:p>
        </p:txBody>
      </p:sp>
      <p:sp>
        <p:nvSpPr>
          <p:cNvPr id="3" name="Content Placeholder 2">
            <a:extLst>
              <a:ext uri="{FF2B5EF4-FFF2-40B4-BE49-F238E27FC236}">
                <a16:creationId xmlns:a16="http://schemas.microsoft.com/office/drawing/2014/main" id="{82AAAAD5-9E45-99F6-984D-D91001F8DB95}"/>
              </a:ext>
            </a:extLst>
          </p:cNvPr>
          <p:cNvSpPr>
            <a:spLocks noGrp="1"/>
          </p:cNvSpPr>
          <p:nvPr>
            <p:ph idx="1"/>
          </p:nvPr>
        </p:nvSpPr>
        <p:spPr/>
        <p:txBody>
          <a:bodyPr numCol="2"/>
          <a:lstStyle/>
          <a:p>
            <a:pPr marL="0" indent="0">
              <a:buNone/>
            </a:pPr>
            <a:r>
              <a:rPr lang="en-IN" b="1" dirty="0"/>
              <a:t>Query:</a:t>
            </a:r>
          </a:p>
          <a:p>
            <a:pPr marL="457200" lvl="1" indent="0">
              <a:buNone/>
            </a:pPr>
            <a:endParaRPr lang="en-IN" dirty="0"/>
          </a:p>
          <a:p>
            <a:pPr marL="457200" lvl="1" indent="0">
              <a:buNone/>
            </a:pPr>
            <a:r>
              <a:rPr lang="en-US" dirty="0"/>
              <a:t>SELECT </a:t>
            </a:r>
            <a:r>
              <a:rPr lang="en-US" dirty="0" err="1"/>
              <a:t>room_type</a:t>
            </a:r>
            <a:r>
              <a:rPr lang="en-US" dirty="0"/>
              <a:t>,</a:t>
            </a:r>
          </a:p>
          <a:p>
            <a:pPr marL="457200" lvl="1" indent="0">
              <a:buNone/>
            </a:pPr>
            <a:r>
              <a:rPr lang="en-US" dirty="0"/>
              <a:t>MAX(</a:t>
            </a:r>
            <a:r>
              <a:rPr lang="en-US" dirty="0" err="1"/>
              <a:t>price_per_day</a:t>
            </a:r>
            <a:r>
              <a:rPr lang="en-US" dirty="0"/>
              <a:t>) AS </a:t>
            </a:r>
            <a:r>
              <a:rPr lang="en-US" dirty="0" err="1"/>
              <a:t>max_price</a:t>
            </a:r>
            <a:endParaRPr lang="en-US" dirty="0"/>
          </a:p>
          <a:p>
            <a:pPr marL="457200" lvl="1" indent="0">
              <a:buNone/>
            </a:pPr>
            <a:r>
              <a:rPr lang="en-US" dirty="0"/>
              <a:t>FROM Rooms</a:t>
            </a:r>
          </a:p>
          <a:p>
            <a:pPr marL="457200" lvl="1" indent="0">
              <a:buNone/>
            </a:pPr>
            <a:r>
              <a:rPr lang="en-US" dirty="0"/>
              <a:t>GROUP BY </a:t>
            </a:r>
            <a:r>
              <a:rPr lang="en-US" dirty="0" err="1"/>
              <a:t>room_type</a:t>
            </a:r>
            <a:r>
              <a:rPr lang="en-US" dirty="0"/>
              <a:t>;</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r>
              <a:rPr lang="en-IN" b="1" dirty="0"/>
              <a:t>Output:</a:t>
            </a:r>
            <a:endParaRPr lang="en-US" b="1" dirty="0"/>
          </a:p>
        </p:txBody>
      </p:sp>
      <p:pic>
        <p:nvPicPr>
          <p:cNvPr id="5" name="Picture 4">
            <a:extLst>
              <a:ext uri="{FF2B5EF4-FFF2-40B4-BE49-F238E27FC236}">
                <a16:creationId xmlns:a16="http://schemas.microsoft.com/office/drawing/2014/main" id="{CFC32F5C-5749-9BD6-0D7E-0E1644922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8770" y="2755069"/>
            <a:ext cx="2533488" cy="2266284"/>
          </a:xfrm>
          <a:prstGeom prst="rect">
            <a:avLst/>
          </a:prstGeom>
        </p:spPr>
      </p:pic>
    </p:spTree>
    <p:extLst>
      <p:ext uri="{BB962C8B-B14F-4D97-AF65-F5344CB8AC3E}">
        <p14:creationId xmlns:p14="http://schemas.microsoft.com/office/powerpoint/2010/main" val="1444574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66FE4-91ED-4DC2-3405-E0D0A9887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7D18A-56FE-B6FD-AC7E-6C5753EF816B}"/>
              </a:ext>
            </a:extLst>
          </p:cNvPr>
          <p:cNvSpPr>
            <a:spLocks noGrp="1"/>
          </p:cNvSpPr>
          <p:nvPr>
            <p:ph type="title"/>
          </p:nvPr>
        </p:nvSpPr>
        <p:spPr/>
        <p:txBody>
          <a:bodyPr>
            <a:normAutofit/>
          </a:bodyPr>
          <a:lstStyle/>
          <a:p>
            <a:r>
              <a:rPr lang="en-US" sz="2400" dirty="0"/>
              <a:t>11. Write a query to improve search speed for Bookings table using INDEX.</a:t>
            </a:r>
            <a:endParaRPr lang="en-IN" sz="2400" dirty="0"/>
          </a:p>
        </p:txBody>
      </p:sp>
      <p:sp>
        <p:nvSpPr>
          <p:cNvPr id="3" name="Content Placeholder 2">
            <a:extLst>
              <a:ext uri="{FF2B5EF4-FFF2-40B4-BE49-F238E27FC236}">
                <a16:creationId xmlns:a16="http://schemas.microsoft.com/office/drawing/2014/main" id="{D5058A23-10CA-B763-2CC1-91B43ED3F5AC}"/>
              </a:ext>
            </a:extLst>
          </p:cNvPr>
          <p:cNvSpPr>
            <a:spLocks noGrp="1"/>
          </p:cNvSpPr>
          <p:nvPr>
            <p:ph idx="1"/>
          </p:nvPr>
        </p:nvSpPr>
        <p:spPr/>
        <p:txBody>
          <a:bodyPr numCol="2"/>
          <a:lstStyle/>
          <a:p>
            <a:pPr marL="0" indent="0">
              <a:buNone/>
            </a:pPr>
            <a:r>
              <a:rPr lang="en-IN" b="1" dirty="0"/>
              <a:t>Query:</a:t>
            </a:r>
          </a:p>
          <a:p>
            <a:pPr marL="457200" lvl="1" indent="0">
              <a:buNone/>
            </a:pPr>
            <a:endParaRPr lang="en-IN" dirty="0"/>
          </a:p>
          <a:p>
            <a:pPr marL="457200" lvl="1" indent="0">
              <a:buNone/>
            </a:pPr>
            <a:r>
              <a:rPr lang="en-US" dirty="0"/>
              <a:t>CREATE INDEX </a:t>
            </a:r>
            <a:r>
              <a:rPr lang="en-US" dirty="0" err="1"/>
              <a:t>idx_room_id</a:t>
            </a:r>
            <a:endParaRPr lang="en-US" dirty="0"/>
          </a:p>
          <a:p>
            <a:pPr marL="457200" lvl="1" indent="0">
              <a:buNone/>
            </a:pPr>
            <a:r>
              <a:rPr lang="en-US" dirty="0"/>
              <a:t>ON Bookings(</a:t>
            </a:r>
            <a:r>
              <a:rPr lang="en-US" dirty="0" err="1"/>
              <a:t>room_id</a:t>
            </a:r>
            <a:r>
              <a:rPr lang="en-US" dirty="0"/>
              <a:t>);</a:t>
            </a:r>
          </a:p>
          <a:p>
            <a:pPr marL="457200" lvl="1" indent="0">
              <a:buNone/>
            </a:pPr>
            <a:endParaRPr lang="en-US" dirty="0"/>
          </a:p>
          <a:p>
            <a:pPr marL="457200" lvl="1" indent="0">
              <a:buNone/>
            </a:pPr>
            <a:r>
              <a:rPr lang="en-US" dirty="0"/>
              <a:t>SELECT * FROM Bookings</a:t>
            </a:r>
          </a:p>
          <a:p>
            <a:pPr marL="457200" lvl="1" indent="0">
              <a:buNone/>
            </a:pPr>
            <a:r>
              <a:rPr lang="en-US" dirty="0"/>
              <a:t>WHERE </a:t>
            </a:r>
            <a:r>
              <a:rPr lang="en-US" dirty="0" err="1"/>
              <a:t>room_id</a:t>
            </a:r>
            <a:r>
              <a:rPr lang="en-US" dirty="0"/>
              <a:t>=4;</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r>
              <a:rPr lang="en-IN" sz="2800" b="1" dirty="0"/>
              <a:t>Output:</a:t>
            </a:r>
            <a:endParaRPr lang="en-US" sz="2800" b="1" dirty="0"/>
          </a:p>
        </p:txBody>
      </p:sp>
      <p:pic>
        <p:nvPicPr>
          <p:cNvPr id="5" name="Picture 4">
            <a:extLst>
              <a:ext uri="{FF2B5EF4-FFF2-40B4-BE49-F238E27FC236}">
                <a16:creationId xmlns:a16="http://schemas.microsoft.com/office/drawing/2014/main" id="{384C6994-FFCC-FCD1-1AC9-18981674E9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8197" y="2819900"/>
            <a:ext cx="5623739" cy="1218199"/>
          </a:xfrm>
          <a:prstGeom prst="rect">
            <a:avLst/>
          </a:prstGeom>
        </p:spPr>
      </p:pic>
    </p:spTree>
    <p:extLst>
      <p:ext uri="{BB962C8B-B14F-4D97-AF65-F5344CB8AC3E}">
        <p14:creationId xmlns:p14="http://schemas.microsoft.com/office/powerpoint/2010/main" val="3358591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FDE3A-3CE9-37EC-7062-A5DCD3822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2E031-B253-9FEE-2001-BBDF62CAA80A}"/>
              </a:ext>
            </a:extLst>
          </p:cNvPr>
          <p:cNvSpPr>
            <a:spLocks noGrp="1"/>
          </p:cNvSpPr>
          <p:nvPr>
            <p:ph type="title"/>
          </p:nvPr>
        </p:nvSpPr>
        <p:spPr/>
        <p:txBody>
          <a:bodyPr>
            <a:normAutofit/>
          </a:bodyPr>
          <a:lstStyle/>
          <a:p>
            <a:r>
              <a:rPr lang="en-US" sz="2400" dirty="0"/>
              <a:t>12. Write a query to display execution plan for Bookings table.</a:t>
            </a:r>
            <a:endParaRPr lang="en-IN" sz="2400" dirty="0"/>
          </a:p>
        </p:txBody>
      </p:sp>
      <p:sp>
        <p:nvSpPr>
          <p:cNvPr id="3" name="Content Placeholder 2">
            <a:extLst>
              <a:ext uri="{FF2B5EF4-FFF2-40B4-BE49-F238E27FC236}">
                <a16:creationId xmlns:a16="http://schemas.microsoft.com/office/drawing/2014/main" id="{911DA13C-2B2B-B6FC-A738-DA1FB6B5AD29}"/>
              </a:ext>
            </a:extLst>
          </p:cNvPr>
          <p:cNvSpPr>
            <a:spLocks noGrp="1"/>
          </p:cNvSpPr>
          <p:nvPr>
            <p:ph idx="1"/>
          </p:nvPr>
        </p:nvSpPr>
        <p:spPr/>
        <p:txBody>
          <a:bodyPr/>
          <a:lstStyle/>
          <a:p>
            <a:pPr marL="0" indent="0">
              <a:buNone/>
            </a:pPr>
            <a:r>
              <a:rPr lang="en-IN" b="1" dirty="0"/>
              <a:t>Query:</a:t>
            </a:r>
          </a:p>
          <a:p>
            <a:pPr marL="457200" lvl="1" indent="0">
              <a:buNone/>
            </a:pPr>
            <a:endParaRPr lang="en-IN" dirty="0"/>
          </a:p>
          <a:p>
            <a:pPr marL="457200" lvl="1" indent="0">
              <a:buNone/>
            </a:pPr>
            <a:r>
              <a:rPr lang="en-US" dirty="0"/>
              <a:t>EXPLAIN</a:t>
            </a:r>
          </a:p>
          <a:p>
            <a:pPr marL="457200" lvl="1" indent="0">
              <a:buNone/>
            </a:pPr>
            <a:r>
              <a:rPr lang="en-US" dirty="0"/>
              <a:t>SELECT * FROM Bookings</a:t>
            </a:r>
          </a:p>
          <a:p>
            <a:pPr marL="457200" lvl="1" indent="0">
              <a:buNone/>
            </a:pPr>
            <a:r>
              <a:rPr lang="en-US" dirty="0"/>
              <a:t>WHERE </a:t>
            </a:r>
            <a:r>
              <a:rPr lang="en-US" dirty="0" err="1"/>
              <a:t>room_id</a:t>
            </a:r>
            <a:r>
              <a:rPr lang="en-US" dirty="0"/>
              <a:t>=4;</a:t>
            </a:r>
          </a:p>
          <a:p>
            <a:pPr marL="457200" lvl="1" indent="0">
              <a:buNone/>
            </a:pPr>
            <a:endParaRPr lang="en-US" dirty="0"/>
          </a:p>
          <a:p>
            <a:pPr marL="457200" lvl="1" indent="0">
              <a:buNone/>
            </a:pPr>
            <a:r>
              <a:rPr lang="en-US" sz="2800" b="1" dirty="0"/>
              <a:t>Output:</a:t>
            </a:r>
            <a:endParaRPr lang="en-IN" sz="2800" b="1" dirty="0"/>
          </a:p>
        </p:txBody>
      </p:sp>
      <p:pic>
        <p:nvPicPr>
          <p:cNvPr id="5" name="Picture 4">
            <a:extLst>
              <a:ext uri="{FF2B5EF4-FFF2-40B4-BE49-F238E27FC236}">
                <a16:creationId xmlns:a16="http://schemas.microsoft.com/office/drawing/2014/main" id="{0CC82CC6-03BA-4A73-DB77-4A9B0F02B1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97" y="5014451"/>
            <a:ext cx="10566962" cy="746957"/>
          </a:xfrm>
          <a:prstGeom prst="rect">
            <a:avLst/>
          </a:prstGeom>
        </p:spPr>
      </p:pic>
    </p:spTree>
    <p:extLst>
      <p:ext uri="{BB962C8B-B14F-4D97-AF65-F5344CB8AC3E}">
        <p14:creationId xmlns:p14="http://schemas.microsoft.com/office/powerpoint/2010/main" val="3070525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5F127-C296-F4A9-DD34-866B9D86B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3072A-9C23-FA45-BBF9-E0B466589C9F}"/>
              </a:ext>
            </a:extLst>
          </p:cNvPr>
          <p:cNvSpPr>
            <a:spLocks noGrp="1"/>
          </p:cNvSpPr>
          <p:nvPr>
            <p:ph type="title"/>
          </p:nvPr>
        </p:nvSpPr>
        <p:spPr/>
        <p:txBody>
          <a:bodyPr>
            <a:normAutofit/>
          </a:bodyPr>
          <a:lstStyle/>
          <a:p>
            <a:r>
              <a:rPr lang="en-US" sz="2400" dirty="0"/>
              <a:t>13. Write a query to calculate total payment by payment method using ROLLUP.</a:t>
            </a:r>
            <a:endParaRPr lang="en-IN" sz="2400" dirty="0"/>
          </a:p>
        </p:txBody>
      </p:sp>
      <p:sp>
        <p:nvSpPr>
          <p:cNvPr id="3" name="Content Placeholder 2">
            <a:extLst>
              <a:ext uri="{FF2B5EF4-FFF2-40B4-BE49-F238E27FC236}">
                <a16:creationId xmlns:a16="http://schemas.microsoft.com/office/drawing/2014/main" id="{B6532494-F6A6-E0D0-FE82-70F3A145AE21}"/>
              </a:ext>
            </a:extLst>
          </p:cNvPr>
          <p:cNvSpPr>
            <a:spLocks noGrp="1"/>
          </p:cNvSpPr>
          <p:nvPr>
            <p:ph idx="1"/>
          </p:nvPr>
        </p:nvSpPr>
        <p:spPr/>
        <p:txBody>
          <a:bodyPr numCol="2"/>
          <a:lstStyle/>
          <a:p>
            <a:pPr marL="0" indent="0">
              <a:buNone/>
            </a:pPr>
            <a:r>
              <a:rPr lang="en-IN" b="1" dirty="0"/>
              <a:t>Query:</a:t>
            </a:r>
          </a:p>
          <a:p>
            <a:pPr marL="457200" lvl="1" indent="0">
              <a:buNone/>
            </a:pPr>
            <a:endParaRPr lang="en-IN" dirty="0"/>
          </a:p>
          <a:p>
            <a:pPr marL="457200" lvl="1" indent="0">
              <a:buNone/>
            </a:pPr>
            <a:r>
              <a:rPr lang="en-US" dirty="0"/>
              <a:t>SELECT </a:t>
            </a:r>
            <a:r>
              <a:rPr lang="en-US" dirty="0" err="1"/>
              <a:t>payment_method</a:t>
            </a:r>
            <a:r>
              <a:rPr lang="en-US" dirty="0"/>
              <a:t>,</a:t>
            </a:r>
          </a:p>
          <a:p>
            <a:pPr marL="457200" lvl="1" indent="0">
              <a:buNone/>
            </a:pPr>
            <a:r>
              <a:rPr lang="en-US" dirty="0"/>
              <a:t>SUM(amount) AS </a:t>
            </a:r>
            <a:r>
              <a:rPr lang="en-US" dirty="0" err="1"/>
              <a:t>total_payment</a:t>
            </a:r>
            <a:endParaRPr lang="en-US" dirty="0"/>
          </a:p>
          <a:p>
            <a:pPr marL="457200" lvl="1" indent="0">
              <a:buNone/>
            </a:pPr>
            <a:r>
              <a:rPr lang="en-US" dirty="0"/>
              <a:t>FROM Payments</a:t>
            </a:r>
          </a:p>
          <a:p>
            <a:pPr marL="457200" lvl="1" indent="0">
              <a:buNone/>
            </a:pPr>
            <a:r>
              <a:rPr lang="en-US" dirty="0"/>
              <a:t>GROUP BY </a:t>
            </a:r>
            <a:r>
              <a:rPr lang="en-US" dirty="0" err="1"/>
              <a:t>payment_method</a:t>
            </a:r>
            <a:r>
              <a:rPr lang="en-US" dirty="0"/>
              <a:t> WITH ROLLUP;</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r>
              <a:rPr lang="en-US" sz="2800" b="1" dirty="0"/>
              <a:t>Output:</a:t>
            </a:r>
            <a:endParaRPr lang="en-IN" b="1" dirty="0"/>
          </a:p>
        </p:txBody>
      </p:sp>
      <p:pic>
        <p:nvPicPr>
          <p:cNvPr id="5" name="Picture 4">
            <a:extLst>
              <a:ext uri="{FF2B5EF4-FFF2-40B4-BE49-F238E27FC236}">
                <a16:creationId xmlns:a16="http://schemas.microsoft.com/office/drawing/2014/main" id="{ED023B93-75C7-A39F-4F7B-E88C3C0666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8755" y="2674374"/>
            <a:ext cx="3674050" cy="1690713"/>
          </a:xfrm>
          <a:prstGeom prst="rect">
            <a:avLst/>
          </a:prstGeom>
        </p:spPr>
      </p:pic>
    </p:spTree>
    <p:extLst>
      <p:ext uri="{BB962C8B-B14F-4D97-AF65-F5344CB8AC3E}">
        <p14:creationId xmlns:p14="http://schemas.microsoft.com/office/powerpoint/2010/main" val="1171248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B9452-5DD7-14D2-B711-93BA539B0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CEDA4-BBB6-7364-D264-2FA3EDEB52FA}"/>
              </a:ext>
            </a:extLst>
          </p:cNvPr>
          <p:cNvSpPr>
            <a:spLocks noGrp="1"/>
          </p:cNvSpPr>
          <p:nvPr>
            <p:ph type="title"/>
          </p:nvPr>
        </p:nvSpPr>
        <p:spPr/>
        <p:txBody>
          <a:bodyPr>
            <a:normAutofit/>
          </a:bodyPr>
          <a:lstStyle/>
          <a:p>
            <a:r>
              <a:rPr lang="en-US" sz="2400" dirty="0"/>
              <a:t>14. Write a query to create a view containing only luxury rooms.</a:t>
            </a:r>
            <a:endParaRPr lang="en-IN" sz="2400" dirty="0"/>
          </a:p>
        </p:txBody>
      </p:sp>
      <p:sp>
        <p:nvSpPr>
          <p:cNvPr id="3" name="Content Placeholder 2">
            <a:extLst>
              <a:ext uri="{FF2B5EF4-FFF2-40B4-BE49-F238E27FC236}">
                <a16:creationId xmlns:a16="http://schemas.microsoft.com/office/drawing/2014/main" id="{E7244DB2-53B0-A324-D684-91FE63AA60F7}"/>
              </a:ext>
            </a:extLst>
          </p:cNvPr>
          <p:cNvSpPr>
            <a:spLocks noGrp="1"/>
          </p:cNvSpPr>
          <p:nvPr>
            <p:ph idx="1"/>
          </p:nvPr>
        </p:nvSpPr>
        <p:spPr/>
        <p:txBody>
          <a:bodyPr numCol="2"/>
          <a:lstStyle/>
          <a:p>
            <a:pPr marL="0" indent="0">
              <a:buNone/>
            </a:pPr>
            <a:r>
              <a:rPr lang="en-IN" b="1" dirty="0"/>
              <a:t>Query:</a:t>
            </a:r>
          </a:p>
          <a:p>
            <a:endParaRPr lang="en-IN" dirty="0"/>
          </a:p>
          <a:p>
            <a:pPr marL="457200" lvl="1" indent="0">
              <a:buNone/>
            </a:pPr>
            <a:r>
              <a:rPr lang="en-US" dirty="0"/>
              <a:t>CREATE VIEW </a:t>
            </a:r>
            <a:r>
              <a:rPr lang="en-US" dirty="0" err="1"/>
              <a:t>luxury_rooms</a:t>
            </a:r>
            <a:r>
              <a:rPr lang="en-US" dirty="0"/>
              <a:t> AS</a:t>
            </a:r>
          </a:p>
          <a:p>
            <a:pPr marL="457200" lvl="1" indent="0">
              <a:buNone/>
            </a:pPr>
            <a:r>
              <a:rPr lang="en-US" dirty="0"/>
              <a:t>SELECT </a:t>
            </a:r>
            <a:r>
              <a:rPr lang="en-US" dirty="0" err="1"/>
              <a:t>room_id</a:t>
            </a:r>
            <a:r>
              <a:rPr lang="en-US" dirty="0"/>
              <a:t>,</a:t>
            </a:r>
          </a:p>
          <a:p>
            <a:pPr marL="457200" lvl="1" indent="0">
              <a:buNone/>
            </a:pPr>
            <a:r>
              <a:rPr lang="en-US" dirty="0"/>
              <a:t>       </a:t>
            </a:r>
            <a:r>
              <a:rPr lang="en-US" dirty="0" err="1"/>
              <a:t>room_type</a:t>
            </a:r>
            <a:r>
              <a:rPr lang="en-US" dirty="0"/>
              <a:t>,</a:t>
            </a:r>
          </a:p>
          <a:p>
            <a:pPr marL="457200" lvl="1" indent="0">
              <a:buNone/>
            </a:pPr>
            <a:r>
              <a:rPr lang="en-US" dirty="0"/>
              <a:t>       </a:t>
            </a:r>
            <a:r>
              <a:rPr lang="en-US" dirty="0" err="1"/>
              <a:t>price_per_day</a:t>
            </a:r>
            <a:endParaRPr lang="en-US" dirty="0"/>
          </a:p>
          <a:p>
            <a:pPr marL="457200" lvl="1" indent="0">
              <a:buNone/>
            </a:pPr>
            <a:r>
              <a:rPr lang="en-US" dirty="0"/>
              <a:t>FROM Rooms</a:t>
            </a:r>
          </a:p>
          <a:p>
            <a:pPr marL="457200" lvl="1" indent="0">
              <a:buNone/>
            </a:pPr>
            <a:r>
              <a:rPr lang="en-US" dirty="0"/>
              <a:t>WHERE </a:t>
            </a:r>
            <a:r>
              <a:rPr lang="en-US" dirty="0" err="1"/>
              <a:t>price_per_day</a:t>
            </a:r>
            <a:r>
              <a:rPr lang="en-US" dirty="0"/>
              <a:t> &gt; 5000;</a:t>
            </a:r>
          </a:p>
          <a:p>
            <a:pPr marL="457200" lvl="1" indent="0">
              <a:buNone/>
            </a:pPr>
            <a:endParaRPr lang="en-US" dirty="0"/>
          </a:p>
          <a:p>
            <a:pPr marL="457200" lvl="1" indent="0">
              <a:buNone/>
            </a:pPr>
            <a:r>
              <a:rPr lang="en-US" dirty="0"/>
              <a:t>SELECT * FROM </a:t>
            </a:r>
            <a:r>
              <a:rPr lang="en-US" dirty="0" err="1"/>
              <a:t>luxury_rooms</a:t>
            </a:r>
            <a:r>
              <a:rPr lang="en-US" dirty="0"/>
              <a:t>;</a:t>
            </a:r>
          </a:p>
          <a:p>
            <a:pPr marL="457200" lvl="1" indent="0">
              <a:buNone/>
            </a:pPr>
            <a:r>
              <a:rPr lang="en-US" b="1" dirty="0"/>
              <a:t>Output:</a:t>
            </a:r>
            <a:endParaRPr lang="en-IN" b="1" dirty="0"/>
          </a:p>
        </p:txBody>
      </p:sp>
      <p:pic>
        <p:nvPicPr>
          <p:cNvPr id="5" name="Picture 4">
            <a:extLst>
              <a:ext uri="{FF2B5EF4-FFF2-40B4-BE49-F238E27FC236}">
                <a16:creationId xmlns:a16="http://schemas.microsoft.com/office/drawing/2014/main" id="{31CD2E00-39CD-97FC-2A10-4A3D725712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0111" y="2526891"/>
            <a:ext cx="4639866" cy="1944560"/>
          </a:xfrm>
          <a:prstGeom prst="rect">
            <a:avLst/>
          </a:prstGeom>
        </p:spPr>
      </p:pic>
    </p:spTree>
    <p:extLst>
      <p:ext uri="{BB962C8B-B14F-4D97-AF65-F5344CB8AC3E}">
        <p14:creationId xmlns:p14="http://schemas.microsoft.com/office/powerpoint/2010/main" val="1977790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967F1-3002-4EA1-ADE5-302C61267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9C9E6-E70B-947C-3C5B-81375E53CCCD}"/>
              </a:ext>
            </a:extLst>
          </p:cNvPr>
          <p:cNvSpPr>
            <a:spLocks noGrp="1"/>
          </p:cNvSpPr>
          <p:nvPr>
            <p:ph type="title"/>
          </p:nvPr>
        </p:nvSpPr>
        <p:spPr/>
        <p:txBody>
          <a:bodyPr>
            <a:normAutofit/>
          </a:bodyPr>
          <a:lstStyle/>
          <a:p>
            <a:r>
              <a:rPr lang="en-US" sz="2400" dirty="0"/>
              <a:t>15. Write a query to create a stored procedure that displays bookings between customer ID ranges.</a:t>
            </a:r>
            <a:endParaRPr lang="en-IN" sz="2400" dirty="0"/>
          </a:p>
        </p:txBody>
      </p:sp>
      <p:sp>
        <p:nvSpPr>
          <p:cNvPr id="3" name="Content Placeholder 2">
            <a:extLst>
              <a:ext uri="{FF2B5EF4-FFF2-40B4-BE49-F238E27FC236}">
                <a16:creationId xmlns:a16="http://schemas.microsoft.com/office/drawing/2014/main" id="{13DB46DD-B955-4FDD-B7F0-27EF2A208BA5}"/>
              </a:ext>
            </a:extLst>
          </p:cNvPr>
          <p:cNvSpPr>
            <a:spLocks noGrp="1"/>
          </p:cNvSpPr>
          <p:nvPr>
            <p:ph idx="1"/>
          </p:nvPr>
        </p:nvSpPr>
        <p:spPr/>
        <p:txBody>
          <a:bodyPr numCol="2">
            <a:normAutofit fontScale="85000" lnSpcReduction="20000"/>
          </a:bodyPr>
          <a:lstStyle/>
          <a:p>
            <a:r>
              <a:rPr lang="en-IN" sz="3300" b="1" dirty="0"/>
              <a:t>Query:</a:t>
            </a:r>
          </a:p>
          <a:p>
            <a:endParaRPr lang="en-IN" dirty="0"/>
          </a:p>
          <a:p>
            <a:pPr marL="0" indent="0">
              <a:buNone/>
            </a:pPr>
            <a:r>
              <a:rPr lang="en-IN" dirty="0"/>
              <a:t>	DELIMITER //</a:t>
            </a:r>
          </a:p>
          <a:p>
            <a:pPr marL="0" indent="0">
              <a:buNone/>
            </a:pPr>
            <a:r>
              <a:rPr lang="en-IN" dirty="0"/>
              <a:t>CREATE PROCEDURE </a:t>
            </a:r>
            <a:r>
              <a:rPr lang="en-IN" dirty="0" err="1"/>
              <a:t>booking_range</a:t>
            </a:r>
            <a:r>
              <a:rPr lang="en-IN" dirty="0"/>
              <a:t>(</a:t>
            </a:r>
          </a:p>
          <a:p>
            <a:pPr marL="0" indent="0">
              <a:buNone/>
            </a:pPr>
            <a:r>
              <a:rPr lang="en-IN" dirty="0"/>
              <a:t>IN </a:t>
            </a:r>
            <a:r>
              <a:rPr lang="en-IN" dirty="0" err="1"/>
              <a:t>start_id</a:t>
            </a:r>
            <a:r>
              <a:rPr lang="en-IN" dirty="0"/>
              <a:t> INT,</a:t>
            </a:r>
          </a:p>
          <a:p>
            <a:pPr marL="0" indent="0">
              <a:buNone/>
            </a:pPr>
            <a:r>
              <a:rPr lang="en-IN" dirty="0"/>
              <a:t>IN </a:t>
            </a:r>
            <a:r>
              <a:rPr lang="en-IN" dirty="0" err="1"/>
              <a:t>end_id</a:t>
            </a:r>
            <a:r>
              <a:rPr lang="en-IN" dirty="0"/>
              <a:t> INT</a:t>
            </a:r>
          </a:p>
          <a:p>
            <a:pPr marL="0" indent="0">
              <a:buNone/>
            </a:pPr>
            <a:r>
              <a:rPr lang="en-IN" dirty="0"/>
              <a:t>)</a:t>
            </a:r>
          </a:p>
          <a:p>
            <a:pPr marL="0" indent="0">
              <a:buNone/>
            </a:pPr>
            <a:r>
              <a:rPr lang="en-IN" dirty="0"/>
              <a:t>BEGIN</a:t>
            </a:r>
          </a:p>
          <a:p>
            <a:pPr marL="0" indent="0">
              <a:buNone/>
            </a:pPr>
            <a:r>
              <a:rPr lang="en-IN" dirty="0"/>
              <a:t>SELECT </a:t>
            </a:r>
            <a:r>
              <a:rPr lang="en-IN" dirty="0" err="1"/>
              <a:t>c.first_name</a:t>
            </a:r>
            <a:r>
              <a:rPr lang="en-IN" dirty="0"/>
              <a:t>,</a:t>
            </a:r>
          </a:p>
          <a:p>
            <a:pPr marL="0" indent="0">
              <a:buNone/>
            </a:pPr>
            <a:r>
              <a:rPr lang="en-IN" dirty="0"/>
              <a:t>       </a:t>
            </a:r>
            <a:r>
              <a:rPr lang="en-IN" dirty="0" err="1"/>
              <a:t>b.booking_id</a:t>
            </a:r>
            <a:r>
              <a:rPr lang="en-IN" dirty="0"/>
              <a:t>,</a:t>
            </a:r>
          </a:p>
          <a:p>
            <a:pPr marL="0" indent="0">
              <a:buNone/>
            </a:pPr>
            <a:r>
              <a:rPr lang="en-IN" dirty="0"/>
              <a:t>       </a:t>
            </a:r>
            <a:r>
              <a:rPr lang="en-IN" dirty="0" err="1"/>
              <a:t>r.room_type</a:t>
            </a:r>
            <a:endParaRPr lang="en-IN" dirty="0"/>
          </a:p>
          <a:p>
            <a:pPr marL="0" indent="0">
              <a:buNone/>
            </a:pPr>
            <a:r>
              <a:rPr lang="en-IN" dirty="0"/>
              <a:t>FROM Customers c</a:t>
            </a:r>
          </a:p>
          <a:p>
            <a:pPr marL="0" indent="0">
              <a:buNone/>
            </a:pPr>
            <a:r>
              <a:rPr lang="en-IN" dirty="0"/>
              <a:t>JOIN Bookings b</a:t>
            </a:r>
          </a:p>
          <a:p>
            <a:pPr marL="0" indent="0">
              <a:buNone/>
            </a:pPr>
            <a:r>
              <a:rPr lang="en-IN" dirty="0"/>
              <a:t>ON </a:t>
            </a:r>
            <a:r>
              <a:rPr lang="en-IN" dirty="0" err="1"/>
              <a:t>c.customer_id</a:t>
            </a:r>
            <a:r>
              <a:rPr lang="en-IN" dirty="0"/>
              <a:t>=</a:t>
            </a:r>
            <a:r>
              <a:rPr lang="en-IN" dirty="0" err="1"/>
              <a:t>b.customer_id</a:t>
            </a:r>
            <a:endParaRPr lang="en-IN" dirty="0"/>
          </a:p>
          <a:p>
            <a:pPr marL="0" indent="0">
              <a:buNone/>
            </a:pPr>
            <a:r>
              <a:rPr lang="en-IN" dirty="0"/>
              <a:t>JOIN Rooms r</a:t>
            </a:r>
          </a:p>
          <a:p>
            <a:pPr marL="0" indent="0">
              <a:buNone/>
            </a:pPr>
            <a:r>
              <a:rPr lang="en-IN" dirty="0"/>
              <a:t>ON </a:t>
            </a:r>
            <a:r>
              <a:rPr lang="en-IN" dirty="0" err="1"/>
              <a:t>b.room_id</a:t>
            </a:r>
            <a:r>
              <a:rPr lang="en-IN" dirty="0"/>
              <a:t>=</a:t>
            </a:r>
            <a:r>
              <a:rPr lang="en-IN" dirty="0" err="1"/>
              <a:t>r.room_id</a:t>
            </a:r>
            <a:endParaRPr lang="en-IN" dirty="0"/>
          </a:p>
          <a:p>
            <a:pPr marL="0" indent="0">
              <a:buNone/>
            </a:pPr>
            <a:r>
              <a:rPr lang="en-IN" dirty="0"/>
              <a:t>WHERE </a:t>
            </a:r>
            <a:r>
              <a:rPr lang="en-IN" dirty="0" err="1"/>
              <a:t>c.customer_id</a:t>
            </a:r>
            <a:r>
              <a:rPr lang="en-IN" dirty="0"/>
              <a:t> BETWEEN </a:t>
            </a:r>
            <a:r>
              <a:rPr lang="en-IN" dirty="0" err="1"/>
              <a:t>start_id</a:t>
            </a:r>
            <a:r>
              <a:rPr lang="en-IN" dirty="0"/>
              <a:t> AND </a:t>
            </a:r>
            <a:r>
              <a:rPr lang="en-IN" dirty="0" err="1"/>
              <a:t>end_id</a:t>
            </a:r>
            <a:r>
              <a:rPr lang="en-IN" dirty="0"/>
              <a:t>;</a:t>
            </a:r>
          </a:p>
          <a:p>
            <a:pPr marL="0" indent="0">
              <a:buNone/>
            </a:pPr>
            <a:r>
              <a:rPr lang="en-IN" dirty="0"/>
              <a:t>END //</a:t>
            </a:r>
          </a:p>
          <a:p>
            <a:pPr marL="0" indent="0">
              <a:buNone/>
            </a:pPr>
            <a:r>
              <a:rPr lang="en-IN" dirty="0"/>
              <a:t>DELIMITER ;</a:t>
            </a:r>
          </a:p>
          <a:p>
            <a:pPr marL="0" indent="0">
              <a:buNone/>
            </a:pPr>
            <a:r>
              <a:rPr lang="en-IN" dirty="0"/>
              <a:t>CALL </a:t>
            </a:r>
            <a:r>
              <a:rPr lang="en-IN" dirty="0" err="1"/>
              <a:t>booking_range</a:t>
            </a:r>
            <a:r>
              <a:rPr lang="en-IN" dirty="0"/>
              <a:t>(1,10);</a:t>
            </a:r>
          </a:p>
        </p:txBody>
      </p:sp>
    </p:spTree>
    <p:extLst>
      <p:ext uri="{BB962C8B-B14F-4D97-AF65-F5344CB8AC3E}">
        <p14:creationId xmlns:p14="http://schemas.microsoft.com/office/powerpoint/2010/main" val="4096380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EFE98-34CA-0011-1083-F475DEC7A5CB}"/>
              </a:ext>
            </a:extLst>
          </p:cNvPr>
          <p:cNvSpPr>
            <a:spLocks noGrp="1"/>
          </p:cNvSpPr>
          <p:nvPr>
            <p:ph type="title"/>
          </p:nvPr>
        </p:nvSpPr>
        <p:spPr/>
        <p:txBody>
          <a:bodyPr>
            <a:normAutofit/>
          </a:bodyPr>
          <a:lstStyle/>
          <a:p>
            <a:r>
              <a:rPr lang="en-US" sz="2800" b="1" dirty="0">
                <a:latin typeface="Calibri (Body)"/>
              </a:rPr>
              <a:t>Output</a:t>
            </a:r>
            <a:endParaRPr lang="en-IN" sz="2800" b="1" dirty="0">
              <a:latin typeface="Calibri (Body)"/>
            </a:endParaRPr>
          </a:p>
        </p:txBody>
      </p:sp>
      <p:pic>
        <p:nvPicPr>
          <p:cNvPr id="5" name="Content Placeholder 4">
            <a:extLst>
              <a:ext uri="{FF2B5EF4-FFF2-40B4-BE49-F238E27FC236}">
                <a16:creationId xmlns:a16="http://schemas.microsoft.com/office/drawing/2014/main" id="{22FED822-6455-7CAC-B463-04640A6DCD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6660" y="2485970"/>
            <a:ext cx="3581766" cy="3511534"/>
          </a:xfrm>
          <a:prstGeom prst="rect">
            <a:avLst/>
          </a:prstGeom>
        </p:spPr>
      </p:pic>
    </p:spTree>
    <p:extLst>
      <p:ext uri="{BB962C8B-B14F-4D97-AF65-F5344CB8AC3E}">
        <p14:creationId xmlns:p14="http://schemas.microsoft.com/office/powerpoint/2010/main" val="1998089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D63E8-C15E-F22D-BD5A-DC71DBD38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9975B-60C3-EB57-DAC5-E48EF7A43988}"/>
              </a:ext>
            </a:extLst>
          </p:cNvPr>
          <p:cNvSpPr>
            <a:spLocks noGrp="1"/>
          </p:cNvSpPr>
          <p:nvPr>
            <p:ph type="title"/>
          </p:nvPr>
        </p:nvSpPr>
        <p:spPr/>
        <p:txBody>
          <a:bodyPr>
            <a:normAutofit/>
          </a:bodyPr>
          <a:lstStyle/>
          <a:p>
            <a:r>
              <a:rPr lang="en-US" sz="2400" dirty="0"/>
              <a:t>16. Write a stored procedure to display rooms whose price is greater than 3000.</a:t>
            </a:r>
            <a:endParaRPr lang="en-IN" sz="2400" dirty="0"/>
          </a:p>
        </p:txBody>
      </p:sp>
      <p:sp>
        <p:nvSpPr>
          <p:cNvPr id="3" name="Content Placeholder 2">
            <a:extLst>
              <a:ext uri="{FF2B5EF4-FFF2-40B4-BE49-F238E27FC236}">
                <a16:creationId xmlns:a16="http://schemas.microsoft.com/office/drawing/2014/main" id="{3C01C5A2-027A-5EAA-6C05-923B67171982}"/>
              </a:ext>
            </a:extLst>
          </p:cNvPr>
          <p:cNvSpPr>
            <a:spLocks noGrp="1"/>
          </p:cNvSpPr>
          <p:nvPr>
            <p:ph idx="1"/>
          </p:nvPr>
        </p:nvSpPr>
        <p:spPr/>
        <p:txBody>
          <a:bodyPr numCol="2">
            <a:normAutofit/>
          </a:bodyPr>
          <a:lstStyle/>
          <a:p>
            <a:pPr marL="0" indent="0">
              <a:buNone/>
            </a:pPr>
            <a:r>
              <a:rPr lang="en-IN" b="1" dirty="0"/>
              <a:t>Query:</a:t>
            </a:r>
          </a:p>
          <a:p>
            <a:endParaRPr lang="en-IN" dirty="0"/>
          </a:p>
          <a:p>
            <a:pPr marL="457200" lvl="1" indent="0">
              <a:buNone/>
            </a:pPr>
            <a:r>
              <a:rPr lang="en-US" dirty="0"/>
              <a:t>DELIMITER //</a:t>
            </a:r>
          </a:p>
          <a:p>
            <a:pPr marL="457200" lvl="1" indent="0">
              <a:buNone/>
            </a:pPr>
            <a:r>
              <a:rPr lang="en-US" dirty="0"/>
              <a:t>CREATE PROCEDURE </a:t>
            </a:r>
            <a:r>
              <a:rPr lang="en-US" dirty="0" err="1"/>
              <a:t>premium_rooms</a:t>
            </a:r>
            <a:r>
              <a:rPr lang="en-US" dirty="0"/>
              <a:t>()</a:t>
            </a:r>
          </a:p>
          <a:p>
            <a:pPr marL="457200" lvl="1" indent="0">
              <a:buNone/>
            </a:pPr>
            <a:r>
              <a:rPr lang="en-US" dirty="0"/>
              <a:t>BEGIN</a:t>
            </a:r>
          </a:p>
          <a:p>
            <a:pPr marL="457200" lvl="1" indent="0">
              <a:buNone/>
            </a:pPr>
            <a:r>
              <a:rPr lang="en-US" dirty="0"/>
              <a:t>SELECT *</a:t>
            </a:r>
          </a:p>
          <a:p>
            <a:pPr marL="457200" lvl="1" indent="0">
              <a:buNone/>
            </a:pPr>
            <a:r>
              <a:rPr lang="en-US" dirty="0"/>
              <a:t>FROM Rooms</a:t>
            </a:r>
          </a:p>
          <a:p>
            <a:pPr marL="457200" lvl="1" indent="0">
              <a:buNone/>
            </a:pPr>
            <a:r>
              <a:rPr lang="en-US" dirty="0"/>
              <a:t>WHERE </a:t>
            </a:r>
            <a:r>
              <a:rPr lang="en-US" dirty="0" err="1"/>
              <a:t>price_per_day</a:t>
            </a:r>
            <a:r>
              <a:rPr lang="en-US" dirty="0"/>
              <a:t> &gt; 3000;</a:t>
            </a:r>
          </a:p>
          <a:p>
            <a:pPr marL="457200" lvl="1" indent="0">
              <a:buNone/>
            </a:pPr>
            <a:r>
              <a:rPr lang="en-US" dirty="0"/>
              <a:t>END //</a:t>
            </a:r>
          </a:p>
          <a:p>
            <a:pPr marL="457200" lvl="1" indent="0">
              <a:buNone/>
            </a:pPr>
            <a:r>
              <a:rPr lang="en-US" dirty="0"/>
              <a:t>DELIMITER ;</a:t>
            </a:r>
          </a:p>
          <a:p>
            <a:pPr marL="457200" lvl="1" indent="0">
              <a:buNone/>
            </a:pPr>
            <a:r>
              <a:rPr lang="en-US" dirty="0"/>
              <a:t>CALL </a:t>
            </a:r>
            <a:r>
              <a:rPr lang="en-US" dirty="0" err="1"/>
              <a:t>premium_rooms</a:t>
            </a:r>
            <a:r>
              <a:rPr lang="en-US" dirty="0"/>
              <a:t>();</a:t>
            </a:r>
          </a:p>
          <a:p>
            <a:pPr marL="457200" lvl="1" indent="0">
              <a:buNone/>
            </a:pPr>
            <a:endParaRPr lang="en-US" dirty="0"/>
          </a:p>
          <a:p>
            <a:pPr marL="457200" lvl="1" indent="0">
              <a:buNone/>
            </a:pPr>
            <a:r>
              <a:rPr lang="en-US" sz="2800" b="1" dirty="0"/>
              <a:t>Output:</a:t>
            </a:r>
            <a:endParaRPr lang="en-IN" b="1" dirty="0"/>
          </a:p>
        </p:txBody>
      </p:sp>
      <p:pic>
        <p:nvPicPr>
          <p:cNvPr id="5" name="Picture 4">
            <a:extLst>
              <a:ext uri="{FF2B5EF4-FFF2-40B4-BE49-F238E27FC236}">
                <a16:creationId xmlns:a16="http://schemas.microsoft.com/office/drawing/2014/main" id="{4065F8D6-80D0-5369-5767-EEE15E671E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8917" y="3704304"/>
            <a:ext cx="4255647" cy="2140825"/>
          </a:xfrm>
          <a:prstGeom prst="rect">
            <a:avLst/>
          </a:prstGeom>
        </p:spPr>
      </p:pic>
    </p:spTree>
    <p:extLst>
      <p:ext uri="{BB962C8B-B14F-4D97-AF65-F5344CB8AC3E}">
        <p14:creationId xmlns:p14="http://schemas.microsoft.com/office/powerpoint/2010/main" val="42515204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780DD-4C2C-16F6-1FCD-49AB7FD44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6B21F-2048-0393-CEDC-1B6B2E7E0DB8}"/>
              </a:ext>
            </a:extLst>
          </p:cNvPr>
          <p:cNvSpPr>
            <a:spLocks noGrp="1"/>
          </p:cNvSpPr>
          <p:nvPr>
            <p:ph type="title"/>
          </p:nvPr>
        </p:nvSpPr>
        <p:spPr/>
        <p:txBody>
          <a:bodyPr>
            <a:normAutofit/>
          </a:bodyPr>
          <a:lstStyle/>
          <a:p>
            <a:r>
              <a:rPr lang="en-US" sz="2400" dirty="0"/>
              <a:t>17. Write a query to categorize rooms into Budget, Standard, and Luxury categories.</a:t>
            </a:r>
            <a:endParaRPr lang="en-IN" sz="2400" dirty="0"/>
          </a:p>
        </p:txBody>
      </p:sp>
      <p:sp>
        <p:nvSpPr>
          <p:cNvPr id="3" name="Content Placeholder 2">
            <a:extLst>
              <a:ext uri="{FF2B5EF4-FFF2-40B4-BE49-F238E27FC236}">
                <a16:creationId xmlns:a16="http://schemas.microsoft.com/office/drawing/2014/main" id="{999503D9-F12E-FD78-A1A2-2BDCF9067D39}"/>
              </a:ext>
            </a:extLst>
          </p:cNvPr>
          <p:cNvSpPr>
            <a:spLocks noGrp="1"/>
          </p:cNvSpPr>
          <p:nvPr>
            <p:ph idx="1"/>
          </p:nvPr>
        </p:nvSpPr>
        <p:spPr/>
        <p:txBody>
          <a:bodyPr numCol="2">
            <a:normAutofit/>
          </a:bodyPr>
          <a:lstStyle/>
          <a:p>
            <a:pPr marL="0" indent="0">
              <a:buNone/>
            </a:pPr>
            <a:r>
              <a:rPr lang="en-IN" b="1" dirty="0"/>
              <a:t>Query:</a:t>
            </a:r>
          </a:p>
          <a:p>
            <a:endParaRPr lang="en-IN" dirty="0"/>
          </a:p>
          <a:p>
            <a:pPr marL="0" indent="0">
              <a:buNone/>
            </a:pPr>
            <a:r>
              <a:rPr lang="en-IN" dirty="0"/>
              <a:t>	</a:t>
            </a:r>
            <a:r>
              <a:rPr lang="en-US" sz="2400" dirty="0"/>
              <a:t>SELECT </a:t>
            </a:r>
            <a:r>
              <a:rPr lang="en-US" sz="2400" dirty="0" err="1"/>
              <a:t>room_id</a:t>
            </a:r>
            <a:r>
              <a:rPr lang="en-US" sz="2400" dirty="0"/>
              <a:t>,</a:t>
            </a:r>
          </a:p>
          <a:p>
            <a:pPr marL="0" indent="0">
              <a:buNone/>
            </a:pPr>
            <a:r>
              <a:rPr lang="en-US" sz="2400" dirty="0"/>
              <a:t>       </a:t>
            </a:r>
            <a:r>
              <a:rPr lang="en-US" sz="2400" dirty="0" err="1"/>
              <a:t>room_type</a:t>
            </a:r>
            <a:r>
              <a:rPr lang="en-US" sz="2400" dirty="0"/>
              <a:t>,</a:t>
            </a:r>
          </a:p>
          <a:p>
            <a:pPr marL="0" indent="0">
              <a:buNone/>
            </a:pPr>
            <a:r>
              <a:rPr lang="en-US" sz="2400" dirty="0"/>
              <a:t>       </a:t>
            </a:r>
            <a:r>
              <a:rPr lang="en-US" sz="2400" dirty="0" err="1"/>
              <a:t>price_per_day</a:t>
            </a:r>
            <a:r>
              <a:rPr lang="en-US" sz="2400" dirty="0"/>
              <a:t>,</a:t>
            </a:r>
          </a:p>
          <a:p>
            <a:pPr marL="0" indent="0">
              <a:buNone/>
            </a:pPr>
            <a:r>
              <a:rPr lang="en-US" sz="2400" dirty="0"/>
              <a:t>CASE</a:t>
            </a:r>
          </a:p>
          <a:p>
            <a:pPr marL="0" indent="0">
              <a:buNone/>
            </a:pPr>
            <a:r>
              <a:rPr lang="en-US" sz="2400" dirty="0"/>
              <a:t>WHEN </a:t>
            </a:r>
            <a:r>
              <a:rPr lang="en-US" sz="2400" dirty="0" err="1"/>
              <a:t>price_per_day</a:t>
            </a:r>
            <a:r>
              <a:rPr lang="en-US" sz="2400" dirty="0"/>
              <a:t> &lt;= 2000</a:t>
            </a:r>
          </a:p>
          <a:p>
            <a:pPr marL="0" indent="0">
              <a:buNone/>
            </a:pPr>
            <a:r>
              <a:rPr lang="en-US" sz="2400" dirty="0"/>
              <a:t>THEN 'Budget Room'</a:t>
            </a:r>
          </a:p>
          <a:p>
            <a:pPr marL="0" indent="0">
              <a:buNone/>
            </a:pPr>
            <a:r>
              <a:rPr lang="en-US" sz="2400" dirty="0"/>
              <a:t>WHEN </a:t>
            </a:r>
            <a:r>
              <a:rPr lang="en-US" sz="2400" dirty="0" err="1"/>
              <a:t>price_per_day</a:t>
            </a:r>
            <a:r>
              <a:rPr lang="en-US" sz="2400" dirty="0"/>
              <a:t> &gt; 5000</a:t>
            </a:r>
          </a:p>
          <a:p>
            <a:pPr marL="0" indent="0">
              <a:buNone/>
            </a:pPr>
            <a:r>
              <a:rPr lang="en-US" sz="2400" dirty="0"/>
              <a:t>THEN 'Luxury Room'</a:t>
            </a:r>
          </a:p>
          <a:p>
            <a:pPr marL="0" indent="0">
              <a:buNone/>
            </a:pPr>
            <a:r>
              <a:rPr lang="en-US" sz="2400" dirty="0"/>
              <a:t>ELSE 'Standard Room'</a:t>
            </a:r>
          </a:p>
          <a:p>
            <a:pPr marL="0" indent="0">
              <a:buNone/>
            </a:pPr>
            <a:r>
              <a:rPr lang="en-US" sz="2400" dirty="0"/>
              <a:t>END AS </a:t>
            </a:r>
            <a:r>
              <a:rPr lang="en-US" sz="2400" dirty="0" err="1"/>
              <a:t>room_category</a:t>
            </a:r>
            <a:endParaRPr lang="en-US" sz="2400" dirty="0"/>
          </a:p>
          <a:p>
            <a:pPr marL="0" indent="0">
              <a:buNone/>
            </a:pPr>
            <a:r>
              <a:rPr lang="en-US" sz="2400" dirty="0"/>
              <a:t>FROM Rooms;</a:t>
            </a:r>
          </a:p>
          <a:p>
            <a:pPr marL="0" indent="0">
              <a:buNone/>
            </a:pPr>
            <a:r>
              <a:rPr lang="en-US" b="1" dirty="0"/>
              <a:t>Output:</a:t>
            </a:r>
            <a:endParaRPr lang="en-IN" b="1" dirty="0"/>
          </a:p>
        </p:txBody>
      </p:sp>
      <p:pic>
        <p:nvPicPr>
          <p:cNvPr id="5" name="Picture 4">
            <a:extLst>
              <a:ext uri="{FF2B5EF4-FFF2-40B4-BE49-F238E27FC236}">
                <a16:creationId xmlns:a16="http://schemas.microsoft.com/office/drawing/2014/main" id="{82755C6E-0EA0-6B64-4BB6-563EDAE9D70A}"/>
              </a:ext>
            </a:extLst>
          </p:cNvPr>
          <p:cNvPicPr>
            <a:picLocks noChangeAspect="1"/>
          </p:cNvPicPr>
          <p:nvPr/>
        </p:nvPicPr>
        <p:blipFill>
          <a:blip r:embed="rId2">
            <a:extLst>
              <a:ext uri="{28A0092B-C50C-407E-A947-70E740481C1C}">
                <a14:useLocalDpi xmlns:a14="http://schemas.microsoft.com/office/drawing/2010/main" val="0"/>
              </a:ext>
            </a:extLst>
          </a:blip>
          <a:srcRect r="7071" b="13301"/>
          <a:stretch>
            <a:fillRect/>
          </a:stretch>
        </p:blipFill>
        <p:spPr>
          <a:xfrm>
            <a:off x="6924790" y="4036815"/>
            <a:ext cx="3989016" cy="2572767"/>
          </a:xfrm>
          <a:prstGeom prst="rect">
            <a:avLst/>
          </a:prstGeom>
        </p:spPr>
      </p:pic>
    </p:spTree>
    <p:extLst>
      <p:ext uri="{BB962C8B-B14F-4D97-AF65-F5344CB8AC3E}">
        <p14:creationId xmlns:p14="http://schemas.microsoft.com/office/powerpoint/2010/main" val="2750715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0B91-17EE-BC8D-F6CB-A5A23E042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1AC8B-2D5A-D945-A479-D9075ACB127D}"/>
              </a:ext>
            </a:extLst>
          </p:cNvPr>
          <p:cNvSpPr>
            <a:spLocks noGrp="1"/>
          </p:cNvSpPr>
          <p:nvPr>
            <p:ph type="title"/>
          </p:nvPr>
        </p:nvSpPr>
        <p:spPr/>
        <p:txBody>
          <a:bodyPr>
            <a:normAutofit/>
          </a:bodyPr>
          <a:lstStyle/>
          <a:p>
            <a:r>
              <a:rPr lang="en-US" sz="2400" dirty="0"/>
              <a:t>18. Write a query to extract customers whose last name ends with 'a'.</a:t>
            </a:r>
            <a:endParaRPr lang="en-IN" sz="2400" dirty="0"/>
          </a:p>
        </p:txBody>
      </p:sp>
      <p:sp>
        <p:nvSpPr>
          <p:cNvPr id="3" name="Content Placeholder 2">
            <a:extLst>
              <a:ext uri="{FF2B5EF4-FFF2-40B4-BE49-F238E27FC236}">
                <a16:creationId xmlns:a16="http://schemas.microsoft.com/office/drawing/2014/main" id="{C2E14494-EFF9-6564-04A8-357ED37BD604}"/>
              </a:ext>
            </a:extLst>
          </p:cNvPr>
          <p:cNvSpPr>
            <a:spLocks noGrp="1"/>
          </p:cNvSpPr>
          <p:nvPr>
            <p:ph idx="1"/>
          </p:nvPr>
        </p:nvSpPr>
        <p:spPr/>
        <p:txBody>
          <a:bodyPr numCol="2"/>
          <a:lstStyle/>
          <a:p>
            <a:pPr marL="0" indent="0">
              <a:buNone/>
            </a:pPr>
            <a:r>
              <a:rPr lang="en-IN" b="1" dirty="0"/>
              <a:t>Query:</a:t>
            </a:r>
          </a:p>
          <a:p>
            <a:endParaRPr lang="en-IN" dirty="0"/>
          </a:p>
          <a:p>
            <a:pPr marL="457200" lvl="1" indent="0">
              <a:buNone/>
            </a:pPr>
            <a:r>
              <a:rPr lang="en-US" dirty="0"/>
              <a:t>SELECT *</a:t>
            </a:r>
          </a:p>
          <a:p>
            <a:pPr marL="457200" lvl="1" indent="0">
              <a:buNone/>
            </a:pPr>
            <a:r>
              <a:rPr lang="en-US" dirty="0"/>
              <a:t>FROM Customers</a:t>
            </a:r>
          </a:p>
          <a:p>
            <a:pPr marL="457200" lvl="1" indent="0">
              <a:buNone/>
            </a:pPr>
            <a:r>
              <a:rPr lang="en-US" dirty="0"/>
              <a:t>WHERE </a:t>
            </a:r>
            <a:r>
              <a:rPr lang="en-US" dirty="0" err="1"/>
              <a:t>last_name</a:t>
            </a:r>
            <a:r>
              <a:rPr lang="en-US" dirty="0"/>
              <a:t> LIKE '%a’;</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r>
              <a:rPr lang="en-IN" sz="2800" b="1" dirty="0"/>
              <a:t>Output:</a:t>
            </a:r>
            <a:endParaRPr lang="en-US" sz="2800" b="1" dirty="0"/>
          </a:p>
        </p:txBody>
      </p:sp>
      <p:pic>
        <p:nvPicPr>
          <p:cNvPr id="5" name="Picture 4">
            <a:extLst>
              <a:ext uri="{FF2B5EF4-FFF2-40B4-BE49-F238E27FC236}">
                <a16:creationId xmlns:a16="http://schemas.microsoft.com/office/drawing/2014/main" id="{CCBE36C9-E94C-DC4E-C6DE-DB8773615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2383" y="2497394"/>
            <a:ext cx="4887487" cy="1875335"/>
          </a:xfrm>
          <a:prstGeom prst="rect">
            <a:avLst/>
          </a:prstGeom>
        </p:spPr>
      </p:pic>
    </p:spTree>
    <p:extLst>
      <p:ext uri="{BB962C8B-B14F-4D97-AF65-F5344CB8AC3E}">
        <p14:creationId xmlns:p14="http://schemas.microsoft.com/office/powerpoint/2010/main" val="1690451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ED4AF-2B91-0BFF-908E-AE390BDC9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56E0D-FA52-EE8F-F6E1-E325C0ED96AE}"/>
              </a:ext>
            </a:extLst>
          </p:cNvPr>
          <p:cNvSpPr>
            <a:spLocks noGrp="1"/>
          </p:cNvSpPr>
          <p:nvPr>
            <p:ph type="title"/>
          </p:nvPr>
        </p:nvSpPr>
        <p:spPr/>
        <p:txBody>
          <a:bodyPr>
            <a:normAutofit/>
          </a:bodyPr>
          <a:lstStyle/>
          <a:p>
            <a:r>
              <a:rPr lang="en-US" sz="2400" dirty="0"/>
              <a:t>19. Write a query to display top 5 highest payments. </a:t>
            </a:r>
            <a:endParaRPr lang="en-IN" sz="2400" dirty="0"/>
          </a:p>
        </p:txBody>
      </p:sp>
      <p:sp>
        <p:nvSpPr>
          <p:cNvPr id="3" name="Content Placeholder 2">
            <a:extLst>
              <a:ext uri="{FF2B5EF4-FFF2-40B4-BE49-F238E27FC236}">
                <a16:creationId xmlns:a16="http://schemas.microsoft.com/office/drawing/2014/main" id="{12AF094D-F273-4677-2BAE-6CA401AC0AE2}"/>
              </a:ext>
            </a:extLst>
          </p:cNvPr>
          <p:cNvSpPr>
            <a:spLocks noGrp="1"/>
          </p:cNvSpPr>
          <p:nvPr>
            <p:ph idx="1"/>
          </p:nvPr>
        </p:nvSpPr>
        <p:spPr/>
        <p:txBody>
          <a:bodyPr numCol="2"/>
          <a:lstStyle/>
          <a:p>
            <a:pPr marL="0" indent="0">
              <a:buNone/>
            </a:pPr>
            <a:r>
              <a:rPr lang="en-IN" b="1" dirty="0"/>
              <a:t>Query:</a:t>
            </a:r>
          </a:p>
          <a:p>
            <a:pPr lvl="1"/>
            <a:endParaRPr lang="en-IN" dirty="0"/>
          </a:p>
          <a:p>
            <a:pPr marL="457200" lvl="1" indent="0">
              <a:buNone/>
            </a:pPr>
            <a:r>
              <a:rPr lang="en-US" dirty="0"/>
              <a:t>SELECT *</a:t>
            </a:r>
          </a:p>
          <a:p>
            <a:pPr marL="457200" lvl="1" indent="0">
              <a:buNone/>
            </a:pPr>
            <a:r>
              <a:rPr lang="en-US" dirty="0"/>
              <a:t>FROM Payments</a:t>
            </a:r>
          </a:p>
          <a:p>
            <a:pPr marL="457200" lvl="1" indent="0">
              <a:buNone/>
            </a:pPr>
            <a:r>
              <a:rPr lang="en-US" dirty="0"/>
              <a:t>ORDER BY amount DESC</a:t>
            </a:r>
          </a:p>
          <a:p>
            <a:pPr marL="457200" lvl="1" indent="0">
              <a:buNone/>
            </a:pPr>
            <a:r>
              <a:rPr lang="en-US" dirty="0"/>
              <a:t>LIMIT 5;</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r>
              <a:rPr lang="en-IN" sz="2800" b="1" dirty="0"/>
              <a:t>Output : </a:t>
            </a:r>
            <a:endParaRPr lang="en-US" sz="2800" b="1" dirty="0"/>
          </a:p>
        </p:txBody>
      </p:sp>
      <p:pic>
        <p:nvPicPr>
          <p:cNvPr id="5" name="Picture 4">
            <a:extLst>
              <a:ext uri="{FF2B5EF4-FFF2-40B4-BE49-F238E27FC236}">
                <a16:creationId xmlns:a16="http://schemas.microsoft.com/office/drawing/2014/main" id="{4B0E097E-7067-962C-FB5B-EAE8592A0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1733" y="2578147"/>
            <a:ext cx="5127304" cy="1539778"/>
          </a:xfrm>
          <a:prstGeom prst="rect">
            <a:avLst/>
          </a:prstGeom>
        </p:spPr>
      </p:pic>
    </p:spTree>
    <p:extLst>
      <p:ext uri="{BB962C8B-B14F-4D97-AF65-F5344CB8AC3E}">
        <p14:creationId xmlns:p14="http://schemas.microsoft.com/office/powerpoint/2010/main" val="647194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81F8F-DF5E-006C-D967-36F813791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CD733-DDDD-6CD2-08E1-F944846F7BCA}"/>
              </a:ext>
            </a:extLst>
          </p:cNvPr>
          <p:cNvSpPr>
            <a:spLocks noGrp="1"/>
          </p:cNvSpPr>
          <p:nvPr>
            <p:ph type="title"/>
          </p:nvPr>
        </p:nvSpPr>
        <p:spPr/>
        <p:txBody>
          <a:bodyPr>
            <a:normAutofit/>
          </a:bodyPr>
          <a:lstStyle/>
          <a:p>
            <a:r>
              <a:rPr lang="en-US" sz="2400" dirty="0"/>
              <a:t>20. Write a query to display customer records using LIMIT and OFFSET.</a:t>
            </a:r>
            <a:endParaRPr lang="en-IN" sz="2400" dirty="0"/>
          </a:p>
        </p:txBody>
      </p:sp>
      <p:sp>
        <p:nvSpPr>
          <p:cNvPr id="3" name="Content Placeholder 2">
            <a:extLst>
              <a:ext uri="{FF2B5EF4-FFF2-40B4-BE49-F238E27FC236}">
                <a16:creationId xmlns:a16="http://schemas.microsoft.com/office/drawing/2014/main" id="{FFF17D27-A950-F999-B4B9-339652CECE68}"/>
              </a:ext>
            </a:extLst>
          </p:cNvPr>
          <p:cNvSpPr>
            <a:spLocks noGrp="1"/>
          </p:cNvSpPr>
          <p:nvPr>
            <p:ph idx="1"/>
          </p:nvPr>
        </p:nvSpPr>
        <p:spPr/>
        <p:txBody>
          <a:bodyPr numCol="2"/>
          <a:lstStyle/>
          <a:p>
            <a:pPr marL="0" indent="0">
              <a:buNone/>
            </a:pPr>
            <a:r>
              <a:rPr lang="en-IN" b="1" dirty="0"/>
              <a:t>Query:</a:t>
            </a:r>
          </a:p>
          <a:p>
            <a:endParaRPr lang="en-IN" dirty="0"/>
          </a:p>
          <a:p>
            <a:pPr marL="457200" lvl="1" indent="0">
              <a:buNone/>
            </a:pPr>
            <a:r>
              <a:rPr lang="en-US" dirty="0"/>
              <a:t>SELECT *</a:t>
            </a:r>
          </a:p>
          <a:p>
            <a:pPr marL="457200" lvl="1" indent="0">
              <a:buNone/>
            </a:pPr>
            <a:r>
              <a:rPr lang="en-US" dirty="0"/>
              <a:t>FROM Customers</a:t>
            </a:r>
          </a:p>
          <a:p>
            <a:pPr marL="457200" lvl="1" indent="0">
              <a:buNone/>
            </a:pPr>
            <a:r>
              <a:rPr lang="en-US" dirty="0"/>
              <a:t>LIMIT 5 OFFSET 5;</a:t>
            </a:r>
          </a:p>
          <a:p>
            <a:pPr marL="457200" lvl="1" indent="0">
              <a:buNone/>
            </a:pPr>
            <a:endParaRPr lang="en-IN" dirty="0"/>
          </a:p>
          <a:p>
            <a:pPr marL="457200" lvl="1" indent="0">
              <a:buNone/>
            </a:pPr>
            <a:endParaRPr lang="en-IN" dirty="0"/>
          </a:p>
          <a:p>
            <a:pPr marL="457200" lvl="1" indent="0">
              <a:buNone/>
            </a:pPr>
            <a:endParaRPr lang="en-IN" dirty="0"/>
          </a:p>
          <a:p>
            <a:pPr marL="457200" lvl="1" indent="0">
              <a:buNone/>
            </a:pPr>
            <a:endParaRPr lang="en-IN" dirty="0"/>
          </a:p>
          <a:p>
            <a:pPr marL="457200" lvl="1" indent="0">
              <a:buNone/>
            </a:pPr>
            <a:endParaRPr lang="en-IN" dirty="0"/>
          </a:p>
          <a:p>
            <a:pPr marL="457200" lvl="1" indent="0">
              <a:buNone/>
            </a:pPr>
            <a:r>
              <a:rPr lang="en-IN" sz="2800" b="1" dirty="0"/>
              <a:t>Output:</a:t>
            </a:r>
          </a:p>
        </p:txBody>
      </p:sp>
      <p:pic>
        <p:nvPicPr>
          <p:cNvPr id="5" name="Picture 4">
            <a:extLst>
              <a:ext uri="{FF2B5EF4-FFF2-40B4-BE49-F238E27FC236}">
                <a16:creationId xmlns:a16="http://schemas.microsoft.com/office/drawing/2014/main" id="{909DE777-B8F3-EABA-6092-A17548DD0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6266" y="2369575"/>
            <a:ext cx="5304489" cy="1905752"/>
          </a:xfrm>
          <a:prstGeom prst="rect">
            <a:avLst/>
          </a:prstGeom>
        </p:spPr>
      </p:pic>
    </p:spTree>
    <p:extLst>
      <p:ext uri="{BB962C8B-B14F-4D97-AF65-F5344CB8AC3E}">
        <p14:creationId xmlns:p14="http://schemas.microsoft.com/office/powerpoint/2010/main" val="2833499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190</TotalTime>
  <Words>1506</Words>
  <Application>Microsoft Office PowerPoint</Application>
  <PresentationFormat>Widescreen</PresentationFormat>
  <Paragraphs>267</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(Body)</vt:lpstr>
      <vt:lpstr>Calibri Light</vt:lpstr>
      <vt:lpstr>Times New Roman</vt:lpstr>
      <vt:lpstr>Office Theme</vt:lpstr>
      <vt:lpstr>PowerPoint Presentation</vt:lpstr>
      <vt:lpstr>What is SQL?</vt:lpstr>
      <vt:lpstr>Why SQL?</vt:lpstr>
      <vt:lpstr>What is MySQL</vt:lpstr>
      <vt:lpstr>Why MySQL is important</vt:lpstr>
      <vt:lpstr>Project Objective</vt:lpstr>
      <vt:lpstr>ENTITY RELATIONSHIP (ER) DIAGRAM</vt:lpstr>
      <vt:lpstr>1. Write a query to create a Rooms table using suitable data types for room_id, room_type, price_per_day, and room_status. Implement primary key and check constraint so price must be greater than 0.</vt:lpstr>
      <vt:lpstr>2. Write a query to display customers who booked rooms between room IDs 1 and 5 using Customers and Bookings tables.</vt:lpstr>
      <vt:lpstr>3. Write a query to identify total payments and total revenue from the Payments table.</vt:lpstr>
      <vt:lpstr>4. Write a query to display the full name of customers using CONCAT function.</vt:lpstr>
      <vt:lpstr>5. Write a query to display customers who have booked rooms using Customers and Bookings tables.</vt:lpstr>
      <vt:lpstr>6. Write a query to identify customer first name and last name who paid using UPI.</vt:lpstr>
      <vt:lpstr>7. Write a query to identify customers who booked Deluxe rooms using GROUP BY and HAVING clause.</vt:lpstr>
      <vt:lpstr>8. Write a query to identify whether hotel revenue crossed 100000 using IF clause.</vt:lpstr>
      <vt:lpstr>9. Write a query to create and grant access to a new database user.</vt:lpstr>
      <vt:lpstr>10. Write a query to find maximum room price for each room type.</vt:lpstr>
      <vt:lpstr>11. Write a query to improve search speed for Bookings table using INDEX.</vt:lpstr>
      <vt:lpstr>12. Write a query to display execution plan for Bookings table.</vt:lpstr>
      <vt:lpstr>13. Write a query to calculate total payment by payment method using ROLLUP.</vt:lpstr>
      <vt:lpstr>14. Write a query to create a view containing only luxury rooms.</vt:lpstr>
      <vt:lpstr>15. Write a query to create a stored procedure that displays bookings between customer ID ranges.</vt:lpstr>
      <vt:lpstr>Output</vt:lpstr>
      <vt:lpstr>16. Write a stored procedure to display rooms whose price is greater than 3000.</vt:lpstr>
      <vt:lpstr>17. Write a query to categorize rooms into Budget, Standard, and Luxury categories.</vt:lpstr>
      <vt:lpstr>18. Write a query to extract customers whose last name ends with 'a'.</vt:lpstr>
      <vt:lpstr>19. Write a query to display top 5 highest payments. </vt:lpstr>
      <vt:lpstr>20. Write a query to display customer records using LIMIT and OFFSET.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Varunesh T</dc:creator>
  <cp:lastModifiedBy>Varunesh T</cp:lastModifiedBy>
  <cp:revision>1</cp:revision>
  <dcterms:created xsi:type="dcterms:W3CDTF">2026-05-24T12:58:30Z</dcterms:created>
  <dcterms:modified xsi:type="dcterms:W3CDTF">2026-05-24T16:08:45Z</dcterms:modified>
</cp:coreProperties>
</file>